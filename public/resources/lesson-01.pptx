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db0c2a0c64439b" /><Relationship Type="http://schemas.openxmlformats.org/officeDocument/2006/relationships/extended-properties" Target="/docProps/app.xml" Id="Rf18807ed808349ca" /><Relationship Type="http://schemas.openxmlformats.org/officeDocument/2006/relationships/officeDocument" Target="/ppt/presentation.xml" Id="Refc4dd0ec10b44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60c209a0a74550"/>
  </p:sldMasterIdLst>
  <p:notesMasterIdLst>
    <p:notesMasterId xmlns:r="http://schemas.openxmlformats.org/officeDocument/2006/relationships" r:id="R6f9b46df58404566"/>
  </p:notesMasterIdLst>
  <p:sldIdLst>
    <p:sldId xmlns:r="http://schemas.openxmlformats.org/officeDocument/2006/relationships" id="256" r:id="R97906aa7abf544f2"/>
    <p:sldId xmlns:r="http://schemas.openxmlformats.org/officeDocument/2006/relationships" id="257" r:id="Reca68fcedd4b44fd"/>
    <p:sldId xmlns:r="http://schemas.openxmlformats.org/officeDocument/2006/relationships" id="258" r:id="R7ac25b073b86494a"/>
    <p:sldId xmlns:r="http://schemas.openxmlformats.org/officeDocument/2006/relationships" id="259" r:id="R68af13136b284e22"/>
    <p:sldId xmlns:r="http://schemas.openxmlformats.org/officeDocument/2006/relationships" id="260" r:id="R8862d37b47ec4011"/>
    <p:sldId xmlns:r="http://schemas.openxmlformats.org/officeDocument/2006/relationships" id="261" r:id="R692c185d742747b3"/>
    <p:sldId xmlns:r="http://schemas.openxmlformats.org/officeDocument/2006/relationships" id="262" r:id="R1c0a59d89da14651"/>
    <p:sldId xmlns:r="http://schemas.openxmlformats.org/officeDocument/2006/relationships" id="263" r:id="Rbf769a18f7d34c83"/>
    <p:sldId xmlns:r="http://schemas.openxmlformats.org/officeDocument/2006/relationships" id="264" r:id="R77d9408ab6cc4b42"/>
    <p:sldId xmlns:r="http://schemas.openxmlformats.org/officeDocument/2006/relationships" id="265" r:id="Rd24fca2d68004621"/>
    <p:sldId xmlns:r="http://schemas.openxmlformats.org/officeDocument/2006/relationships" id="266" r:id="R36a2af5ada314aa6"/>
    <p:sldId xmlns:r="http://schemas.openxmlformats.org/officeDocument/2006/relationships" id="267" r:id="R5072631cff774226"/>
    <p:sldId xmlns:r="http://schemas.openxmlformats.org/officeDocument/2006/relationships" id="268" r:id="R84632ce9d803433e"/>
    <p:sldId xmlns:r="http://schemas.openxmlformats.org/officeDocument/2006/relationships" id="269" r:id="R7b51ccfb014546a7"/>
    <p:sldId xmlns:r="http://schemas.openxmlformats.org/officeDocument/2006/relationships" id="270" r:id="Rb7be1f3eb9a34994"/>
    <p:sldId xmlns:r="http://schemas.openxmlformats.org/officeDocument/2006/relationships" id="271" r:id="R4f4a0ea031c2438b"/>
    <p:sldId xmlns:r="http://schemas.openxmlformats.org/officeDocument/2006/relationships" id="272" r:id="Rd325ed668a7e44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d5f530853141e5" /><Relationship Type="http://schemas.openxmlformats.org/officeDocument/2006/relationships/slideMaster" Target="/ppt/slideMasters/slideMaster1.xml" Id="R6e60c209a0a74550" /><Relationship Type="http://schemas.openxmlformats.org/officeDocument/2006/relationships/notesMaster" Target="/ppt/notesMasters/notesMaster1.xml" Id="R6f9b46df58404566" /><Relationship Type="http://schemas.openxmlformats.org/officeDocument/2006/relationships/presProps" Target="/ppt/presProps.xml" Id="R4c4c636b7257468e" /><Relationship Type="http://schemas.openxmlformats.org/officeDocument/2006/relationships/tableStyles" Target="/ppt/tableStyles.xml" Id="Rebc6f4b4b93e4970" /><Relationship Type="http://schemas.openxmlformats.org/officeDocument/2006/relationships/slide" Target="/ppt/slides/slide1.xml" Id="R97906aa7abf544f2" /><Relationship Type="http://schemas.openxmlformats.org/officeDocument/2006/relationships/slide" Target="/ppt/slides/slide2.xml" Id="Reca68fcedd4b44fd" /><Relationship Type="http://schemas.openxmlformats.org/officeDocument/2006/relationships/slide" Target="/ppt/slides/slide3.xml" Id="R7ac25b073b86494a" /><Relationship Type="http://schemas.openxmlformats.org/officeDocument/2006/relationships/slide" Target="/ppt/slides/slide4.xml" Id="R68af13136b284e22" /><Relationship Type="http://schemas.openxmlformats.org/officeDocument/2006/relationships/slide" Target="/ppt/slides/slide5.xml" Id="R8862d37b47ec4011" /><Relationship Type="http://schemas.openxmlformats.org/officeDocument/2006/relationships/slide" Target="/ppt/slides/slide6.xml" Id="R692c185d742747b3" /><Relationship Type="http://schemas.openxmlformats.org/officeDocument/2006/relationships/slide" Target="/ppt/slides/slide7.xml" Id="R1c0a59d89da14651" /><Relationship Type="http://schemas.openxmlformats.org/officeDocument/2006/relationships/slide" Target="/ppt/slides/slide8.xml" Id="Rbf769a18f7d34c83" /><Relationship Type="http://schemas.openxmlformats.org/officeDocument/2006/relationships/slide" Target="/ppt/slides/slide9.xml" Id="R77d9408ab6cc4b42" /><Relationship Type="http://schemas.openxmlformats.org/officeDocument/2006/relationships/slide" Target="/ppt/slides/slide10.xml" Id="Rd24fca2d68004621" /><Relationship Type="http://schemas.openxmlformats.org/officeDocument/2006/relationships/slide" Target="/ppt/slides/slide11.xml" Id="R36a2af5ada314aa6" /><Relationship Type="http://schemas.openxmlformats.org/officeDocument/2006/relationships/slide" Target="/ppt/slides/slide12.xml" Id="R5072631cff774226" /><Relationship Type="http://schemas.openxmlformats.org/officeDocument/2006/relationships/slide" Target="/ppt/slides/slide13.xml" Id="R84632ce9d803433e" /><Relationship Type="http://schemas.openxmlformats.org/officeDocument/2006/relationships/slide" Target="/ppt/slides/slide14.xml" Id="R7b51ccfb014546a7" /><Relationship Type="http://schemas.openxmlformats.org/officeDocument/2006/relationships/slide" Target="/ppt/slides/slide15.xml" Id="Rb7be1f3eb9a34994" /><Relationship Type="http://schemas.openxmlformats.org/officeDocument/2006/relationships/slide" Target="/ppt/slides/slide16.xml" Id="R4f4a0ea031c2438b" /><Relationship Type="http://schemas.openxmlformats.org/officeDocument/2006/relationships/slide" Target="/ppt/slides/slide17.xml" Id="Rd325ed668a7e44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d180179ad141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dacd9867944bc3" /><Relationship Type="http://schemas.openxmlformats.org/officeDocument/2006/relationships/notesMaster" Target="/ppt/notesMasters/notesMaster1.xml" Id="R2ba7853b60284b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0c83304a9f4235" /><Relationship Type="http://schemas.openxmlformats.org/officeDocument/2006/relationships/notesMaster" Target="/ppt/notesMasters/notesMaster1.xml" Id="R73a92010585b49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8d3add209b4478" /><Relationship Type="http://schemas.openxmlformats.org/officeDocument/2006/relationships/notesMaster" Target="/ppt/notesMasters/notesMaster1.xml" Id="R49e607b8d55d46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7b1a87a33e44dc" /><Relationship Type="http://schemas.openxmlformats.org/officeDocument/2006/relationships/notesMaster" Target="/ppt/notesMasters/notesMaster1.xml" Id="R7146e2be82b34d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d3ff30c1a142bd" /><Relationship Type="http://schemas.openxmlformats.org/officeDocument/2006/relationships/notesMaster" Target="/ppt/notesMasters/notesMaster1.xml" Id="R6eff18a9f95b4c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d62a5a950f41f0" /><Relationship Type="http://schemas.openxmlformats.org/officeDocument/2006/relationships/notesMaster" Target="/ppt/notesMasters/notesMaster1.xml" Id="R049c478ab64342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4b6ef52f944723" /><Relationship Type="http://schemas.openxmlformats.org/officeDocument/2006/relationships/notesMaster" Target="/ppt/notesMasters/notesMaster1.xml" Id="R291ba15f027e4e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63bdb7cfe14745" /><Relationship Type="http://schemas.openxmlformats.org/officeDocument/2006/relationships/notesMaster" Target="/ppt/notesMasters/notesMaster1.xml" Id="Rfaebdeec6e1a4e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e51fea18204f70" /><Relationship Type="http://schemas.openxmlformats.org/officeDocument/2006/relationships/notesMaster" Target="/ppt/notesMasters/notesMaster1.xml" Id="Rdc79b3dea7a845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af6586588a48dd" /><Relationship Type="http://schemas.openxmlformats.org/officeDocument/2006/relationships/notesMaster" Target="/ppt/notesMasters/notesMaster1.xml" Id="R8ea95aeeb83241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6f8c0c870f4c89" /><Relationship Type="http://schemas.openxmlformats.org/officeDocument/2006/relationships/notesMaster" Target="/ppt/notesMasters/notesMaster1.xml" Id="R044cd0c12fb943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0f839c16fe4a6e" /><Relationship Type="http://schemas.openxmlformats.org/officeDocument/2006/relationships/notesMaster" Target="/ppt/notesMasters/notesMaster1.xml" Id="R3566dd7053754b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7a3556cb764327" /><Relationship Type="http://schemas.openxmlformats.org/officeDocument/2006/relationships/notesMaster" Target="/ppt/notesMasters/notesMaster1.xml" Id="R3150d337271245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4cc056380c4949" /><Relationship Type="http://schemas.openxmlformats.org/officeDocument/2006/relationships/notesMaster" Target="/ppt/notesMasters/notesMaster1.xml" Id="Rbcd8bdb454a147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0df69ef7f04b7e" /><Relationship Type="http://schemas.openxmlformats.org/officeDocument/2006/relationships/notesMaster" Target="/ppt/notesMasters/notesMaster1.xml" Id="R993dcd9b1c8c4e5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80df443a1f94e4b" /><Relationship Type="http://schemas.openxmlformats.org/officeDocument/2006/relationships/notesMaster" Target="/ppt/notesMasters/notesMaster1.xml" Id="R8a07b290584e4a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7ed721f675247c0" /><Relationship Type="http://schemas.openxmlformats.org/officeDocument/2006/relationships/notesMaster" Target="/ppt/notesMasters/notesMaster1.xml" Id="Ra74b3ce2afaa43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配音】小朋友们好！我是图灵老师，是人制作的屏幕角色。今天，我和现场老师陪大家认识AI。你不用手机，也不用打字，只要看一看、听一听，最后画出一个小想法。屏幕里的我会按准备好的内容讲课，真正陪在大家身边、能照顾大家的，是教室里的老师。现在，让我们一起开始。</a:t>
            </a:r>
          </a:p>
          <a:p xmlns:a="http://schemas.openxmlformats.org/drawingml/2006/main">
            <a:r>
              <a:t>【现场执行】问好后直接开始，不做逐个自我介绍，不摸底轮流提问。动画只作陪伴，不说正在听懂全班。</a:t>
            </a:r>
          </a:p>
          <a:p xmlns:a="http://schemas.openxmlformats.org/drawingml/2006/main">
            <a:r>
              <a:t>本页预算含讲授、理解停顿、指图或制作时间，并非音轨长度。配音未内嵌。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图像来源：Google Noto Emoji，https://github.com/googlefonts/noto-emoji ，未修改图像。图灵动画：Google Noto Animated Emoji，https://googlefonts.github.io/noto-emoji-animation/ ，原文件 https://fonts.gstatic.com/s/e/notoemoji/latest/1f916/512.gif 。动画按CC BY 4.0署名使用，https://creativecommons.org/licenses/by/4.0/ 。本形象为本样课临时角色，不代表独占品牌IP。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配音】AI也叫人工智能。我们可以先把它理解成人制作的一类工具。有的AI可以听问题，有的能从图片里找线索，还有的能按要求编故事。它们的本领并不完全一样。会唱歌的玩具，不一定用了AI；长得像机器人的东西，也不一定有AI。我们要看它具体怎样工作。图灵这个名字，是我们课程角色的名字。接下来先看一段科普动画，看看人们怎样介绍人工智能。遇到听不懂的词没关系，记住一个能帮忙的例子就可以。</a:t>
            </a:r>
          </a:p>
          <a:p xmlns:a="http://schemas.openxmlformats.org/drawingml/2006/main">
            <a:r>
              <a:t>【现场执行】教师依次指三个图标，放慢例子讲解，不追加问答。此处2分钟含指图、转场和理解停顿，不把口播拉长到2分钟。</a:t>
            </a:r>
          </a:p>
          <a:p xmlns:a="http://schemas.openxmlformats.org/drawingml/2006/main">
            <a:r>
              <a:t>本页预算含讲授、理解停顿、指图或制作时间，并非音轨长度。配音未内嵌。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图像来源：Google Noto Emoji，https://github.com/googlefonts/noto-emoji ，未修改图像。图灵动画：Google Noto Animated Emoji，https://googlefonts.github.io/noto-emoji-animation/ ，原文件 https://fonts.gstatic.com/s/e/notoemoji/latest/1f916/512.gif 。动画按CC BY 4.0署名使用，https://creativecommons.org/licenses/by/4.0/ 。本形象为本样课临时角色，不代表独占品牌IP。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配音】这一段原站动画介绍人工智能。如果今天视频打不开，图灵就用图卡接着讲。人们会给不同工具设计不同任务。有的工具把一句话变成文字，有的工具尝试从照片里找出猫和狗，还有的工具根据描述写故事。这些是不同的能力，不是每个AI都全部会做。我们今天只需要认识：AI是人制作的工具，它能在一些任务上帮助我们。人要告诉它任务，也要看看结果是不是合适。看见会说话的机器，不用急着给它贴上AI的标签。</a:t>
            </a:r>
          </a:p>
          <a:p xmlns:a="http://schemas.openxmlformats.org/drawingml/2006/main">
            <a:r>
              <a:t>【现场执行】原站完整分集预算3分12秒，不预设未经审看的切点。录屏时可用图卡讲解替代，页面明确显示替代模式。短片播放时停掉图灵配音；不开弹幕，不逐段提问。</a:t>
            </a:r>
          </a:p>
          <a:p xmlns:a="http://schemas.openxmlformats.org/drawingml/2006/main">
            <a:r>
              <a:t>来源：科普中国《一次看懂人工智能》第1集</a:t>
            </a:r>
          </a:p>
          <a:p xmlns:a="http://schemas.openxmlformats.org/drawingml/2006/main">
            <a:r>
              <a:t>https://www.bilibili.com/video/BV1134y1d72L/?p=1</a:t>
            </a:r>
          </a:p>
          <a:p xmlns:a="http://schemas.openxmlformats.org/drawingml/2006/main">
            <a:r>
              <a:t>已核验官方账号、分集标题与标注时长；App内嵌播放器已试播并确认进度前进，完整内容适龄审看待课前完成。</a:t>
            </a:r>
          </a:p>
          <a:p xmlns:a="http://schemas.openxmlformats.org/drawingml/2006/main">
            <a:r>
              <a:t>本页预算含讲授、理解停顿、指图或制作时间，并非音轨长度。配音未内嵌。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图像来源：Google Noto Emoji，https://github.com/googlefonts/noto-emoji ，未修改图像。图灵动画：Google Noto Animated Emoji，https://googlefonts.github.io/noto-emoji-animation/ ，原文件 https://fonts.gstatic.com/s/e/notoemoji/latest/1f916/512.gif 。动画按CC BY 4.0署名使用，https://creativecommons.org/licenses/by/4.0/ 。本形象为本样课临时角色，不代表独占品牌IP。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配音】先来看声音。使用了语音识别的工具，可以把我们说的话变成文字；再配上其他功能，就可能回答问题或讲故事。再来看图片。识图工具会分析图片里的线索，尝试给出名字，例如这是什么植物，但它也可能认错。最后看创作。有的AI能按要求编一个小故事，帮助我们想角色、地点和事情。它给出的点子可以作参考，最后怎样表达，仍然由我们来决定。今天我们会看一段准备好的故事演示，不需要每个同学拿着设备操作。</a:t>
            </a:r>
          </a:p>
          <a:p xmlns:a="http://schemas.openxmlformats.org/drawingml/2006/main">
            <a:r>
              <a:t>【现场执行】每个图标约40至50秒，可用自己的日常例子补充。只讲AI功能，不把任何普通麦克风、相机或图标本身说成AI。</a:t>
            </a:r>
          </a:p>
          <a:p xmlns:a="http://schemas.openxmlformats.org/drawingml/2006/main">
            <a:r>
              <a:t>本页预算含讲授、理解停顿、指图或制作时间，并非音轨长度。配音未内嵌。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图像来源：Google Noto Emoji，https://github.com/googlefonts/noto-emoji ，未修改图像。图灵动画：Google Noto Animated Emoji，https://googlefonts.github.io/noto-emoji-animation/ ，原文件 https://fonts.gstatic.com/s/e/notoemoji/latest/1f916/512.gif 。动画按CC BY 4.0署名使用，https://creativecommons.org/licenses/by/4.0/ 。本形象为本样课临时角色，不代表独占品牌IP。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配音】看这张猫的图。如果旁边写着小狗，这个名字就不对。这里是老师故意放的错标签，用来演示工具也可能出错，不是一次真实AI测试。AI的回答同样可能出现问题。有时图片不清楚，有时它没有找到正确的线索，有时它说得很像真的，却不符合事实。我们可以先看看图里的特征，再请现场老师帮忙核对。不是把同一个问题多问几次，就一定能得到正确答案。遇到不确定的事，我们一起找可靠的帮助。</a:t>
            </a:r>
          </a:p>
          <a:p xmlns:a="http://schemas.openxmlformats.org/drawingml/2006/main">
            <a:r>
              <a:t>【现场执行】图上加错标签只用于讲解，由教师直接解释，不开展猫狗判断游戏。保留短暂观察即可。</a:t>
            </a:r>
          </a:p>
          <a:p xmlns:a="http://schemas.openxmlformats.org/drawingml/2006/main">
            <a:r>
              <a:t>本页预算含讲授、理解停顿、指图或制作时间，并非音轨长度。配音未内嵌。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图像来源：Google Noto Emoji，https://github.com/googlefonts/noto-emoji ，未修改图像。图灵动画：Google Noto Animated Emoji，https://googlefonts.github.io/noto-emoji-animation/ ，原文件 https://fonts.gstatic.com/s/e/notoemoji/latest/1f916/512.gif 。动画按CC BY 4.0署名使用，https://creativecommons.org/licenses/by/4.0/ 。本形象为本样课临时角色，不代表独占品牌IP。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配音】这一段原站动画介绍语音识别。视频不可用时，我们用说话和文字这两个图标来理解。人说一句话，声音里有很多线索。使用语音识别的工具，会根据学到的规律，尝试把声音对应成文字。同一句话，如果周围很吵，或者几个人一起说，结果就可能不准确。所以请工具帮忙时，一次说一件事、说清楚一些，会更方便。我们今天不要求记住声音怎样计算，只要知道：这项本领能帮助人把话变成文字，而且也需要检查。</a:t>
            </a:r>
          </a:p>
          <a:p xmlns:a="http://schemas.openxmlformats.org/drawingml/2006/main">
            <a:r>
              <a:t>【现场执行】原站第6集完整播放预算3分10秒。低年级不解释模型结构，复杂词听过即可。图卡替代模式可由教师分例子慢讲，不假装播放了原视频。</a:t>
            </a:r>
          </a:p>
          <a:p xmlns:a="http://schemas.openxmlformats.org/drawingml/2006/main">
            <a:r>
              <a:t>来源：科普中国《一次看懂人工智能》第6集</a:t>
            </a:r>
          </a:p>
          <a:p xmlns:a="http://schemas.openxmlformats.org/drawingml/2006/main">
            <a:r>
              <a:t>https://www.bilibili.com/video/BV1134y1d72L/?p=6</a:t>
            </a:r>
          </a:p>
          <a:p xmlns:a="http://schemas.openxmlformats.org/drawingml/2006/main">
            <a:r>
              <a:t>已核验官方账号、分集标题与标注时长；App内嵌播放器已试播并确认进度前进，完整内容适龄审看待课前完成。</a:t>
            </a:r>
          </a:p>
          <a:p xmlns:a="http://schemas.openxmlformats.org/drawingml/2006/main">
            <a:r>
              <a:t>本页预算含讲授、理解停顿、指图或制作时间，并非音轨长度。配音未内嵌。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图像来源：Google Noto Emoji，https://github.com/googlefonts/noto-emoji ，未修改图像。图灵动画：Google Noto Animated Emoji，https://googlefonts.github.io/noto-emoji-animation/ ，原文件 https://fonts.gstatic.com/s/e/notoemoji/latest/1f916/512.gif 。动画按CC BY 4.0署名使用，https://creativecommons.org/licenses/by/4.0/ 。本形象为本样课临时角色，不代表独占品牌IP。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配音】这一段原站动画介绍人们怎样训练AI。视频不可用时，我们用识图作一个简单比方。人们准备许多不同的图片和相关信息，让工具从中学习规律。看过的例子、学习的方法，以及后来遇见的图片，都会影响它的表现。这只是帮助理解的比方，机器的学习和小朋友的学习并不完全一样。AI可能把新的图片认错，也可能不知道答案。所以我们既可以使用它的本领，也要留意它哪里做得不够好。以后几节课，我们还会慢慢认识更多例子。</a:t>
            </a:r>
          </a:p>
          <a:p xmlns:a="http://schemas.openxmlformats.org/drawingml/2006/main">
            <a:r>
              <a:t>【现场执行】原站第4集完整播放预算2分58秒。内容逐段审看待完成，课堂可切同主题图卡。不要把人的学习与机器学习完全等同。</a:t>
            </a:r>
          </a:p>
          <a:p xmlns:a="http://schemas.openxmlformats.org/drawingml/2006/main">
            <a:r>
              <a:t>来源：科普中国《一次看懂人工智能》第4集</a:t>
            </a:r>
          </a:p>
          <a:p xmlns:a="http://schemas.openxmlformats.org/drawingml/2006/main">
            <a:r>
              <a:t>https://www.bilibili.com/video/BV1134y1d72L/?p=4</a:t>
            </a:r>
          </a:p>
          <a:p xmlns:a="http://schemas.openxmlformats.org/drawingml/2006/main">
            <a:r>
              <a:t>已核验官方账号、分集标题与标注时长；App内嵌播放器已试播并确认进度前进，完整内容适龄审看待课前完成。</a:t>
            </a:r>
          </a:p>
          <a:p xmlns:a="http://schemas.openxmlformats.org/drawingml/2006/main">
            <a:r>
              <a:t>本页预算含讲授、理解停顿、指图或制作时间，并非音轨长度。配音未内嵌。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图像来源：Google Noto Emoji，https://github.com/googlefonts/noto-emoji ，未修改图像。图灵动画：Google Noto Animated Emoji，https://googlefonts.github.io/noto-emoji-animation/ ，原文件 https://fonts.gstatic.com/s/e/notoemoji/latest/1f916/512.gif 。动画按CC BY 4.0署名使用，https://creativecommons.org/licenses/by/4.0/ 。本形象为本样课临时角色，不代表独占品牌IP。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【配音】现在只用一次举手。现场老师指到你见过的功能，你就举一下手：听声音、看图片，或者编故事。没有见过也没有关系，今天就是一次认识它们的机会。谢谢大家。接下来我们安静看一个故事示范。</a:t>
            </a:r>
          </a:p>
          <a:p xmlns:a="http://schemas.openxmlformats.org/drawingml/2006/main">
            <a:r>
              <a:t>【现场执行】三项总共20秒，不点名、不追问理由。剩余32秒完成总结与转场。</a:t>
            </a:r>
          </a:p>
          <a:p xmlns:a="http://schemas.openxmlformats.org/drawingml/2006/main">
            <a:r>
              <a:t>本页预算含讲授、理解停顿、指图或制作时间，并非音轨长度。配音未内嵌。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图像来源：Google Noto Emoji，https://github.com/googlefonts/noto-emoji ，未修改图像。图灵动画：Google Noto Animated Emoji，https://googlefonts.github.io/noto-emoji-animation/ ，原文件 https://fonts.gstatic.com/s/e/notoemoji/latest/1f916/512.gif 。动画按CC BY 4.0署名使用，https://creativecommons.org/licenses/by/4.0/ 。本形象为本样课临时角色，不代表独占品牌IP。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配音】接下来是老师课前准备好的对话示例，不是现在实时生成，也不是AI听见全班同学的声音。第一句请求很短：帮我编个故事。示例里出现了小熊和新朋友。故事有了，可是它还不知道我们想让谁出现、故事发生在哪里。我们可以多告诉它一点。这样做不是为了说很多难懂的话，而是把心里的画面讲清楚。</a:t>
            </a:r>
          </a:p>
          <a:p xmlns:a="http://schemas.openxmlformats.org/drawingml/2006/main">
            <a:r>
              <a:t>【现场执行】点击展示示例回答，直接说明前后区别，不再提问。回答为本课原创Mock Data，不向模型发送请求。</a:t>
            </a:r>
          </a:p>
          <a:p xmlns:a="http://schemas.openxmlformats.org/drawingml/2006/main">
            <a:r>
              <a:t>本页预算含讲授、理解停顿、指图或制作时间，并非音轨长度。配音未内嵌。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图像来源：Google Noto Emoji，https://github.com/googlefonts/noto-emoji ，未修改图像。图灵动画：Google Noto Animated Emoji，https://googlefonts.github.io/noto-emoji-animation/ ，原文件 https://fonts.gstatic.com/s/e/notoemoji/latest/1f916/512.gif 。动画按CC BY 4.0署名使用，https://creativecommons.org/licenses/by/4.0/ 。本形象为本样课临时角色，不代表独占品牌IP。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配音】这一次，请大家在小兔和小熊里选一个主角。现场老师听一听大家的选择，在屏幕上点一下就好。我们只选一次，不用轮流说。地点和事情已经准备好了：主角要来到想象中的月亮花园，种胡萝卜。这是想象故事，真实月亮上不能这样直接种菜。</a:t>
            </a:r>
          </a:p>
          <a:p xmlns:a="http://schemas.openxmlformats.org/drawingml/2006/main">
            <a:r>
              <a:t>【现场执行】20秒集体选择，教师点击主角，不开启麦克风识别。余下40秒介绍想象背景，后续两页沿用所选角色。</a:t>
            </a:r>
          </a:p>
          <a:p xmlns:a="http://schemas.openxmlformats.org/drawingml/2006/main">
            <a:r>
              <a:t>本页预算含讲授、理解停顿、指图或制作时间，并非音轨长度。配音未内嵌。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图像来源：Google Noto Emoji，https://github.com/googlefonts/noto-emoji ，未修改图像。图灵动画：Google Noto Animated Emoji，https://googlefonts.github.io/noto-emoji-animation/ ，原文件 https://fonts.gstatic.com/s/e/notoemoji/latest/1f916/512.gif 。动画按CC BY 4.0署名使用，https://creativecommons.org/licenses/by/4.0/ 。本形象为本样课临时角色，不代表独占品牌IP。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配音】现在我们把请求补充清楚。故事里是谁？是刚刚选出的主角。在哪里？在想象中的月亮花园。做什么？种胡萝卜。三件事放在一起，工具就有了更多线索。看下面准备好的回答，主角、地点和事情都出现了。示例不代表每次AI都会这样回答，也不代表月亮真的能直接种菜。我们是在练习表达一个想象画面。</a:t>
            </a:r>
          </a:p>
          <a:p xmlns:a="http://schemas.openxmlformats.org/drawingml/2006/main">
            <a:r>
              <a:t>【现场执行】教师点击展示回答，依次指角色、地点、动作。学生只观察，不跟读，不再选地点或动作。</a:t>
            </a:r>
          </a:p>
          <a:p xmlns:a="http://schemas.openxmlformats.org/drawingml/2006/main">
            <a:r>
              <a:t>本页预算含讲授、理解停顿、指图或制作时间，并非音轨长度。配音未内嵌。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图像来源：Google Noto Emoji，https://github.com/googlefonts/noto-emoji ，未修改图像。图灵动画：Google Noto Animated Emoji，https://googlefonts.github.io/noto-emoji-animation/ ，原文件 https://fonts.gstatic.com/s/e/notoemoji/latest/1f916/512.gif 。动画按CC BY 4.0署名使用，https://creativecommons.org/licenses/by/4.0/ 。本形象为本样课临时角色，不代表独占品牌IP。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配音】如果想增加一个朋友，我们可以再补一句要求：请给主角加上一个朋友，还是两句话。看这份修改后的示例。原来一个人做的事，现在变成两个朋友一起做。我们没有重新说一大段话，只是指出想改哪里。你看见的两份回答都是课前准备的。真正使用AI时，结果可能不同，仍然需要人来看看。接下来每个人画一张自己的愿望图卡，不用等待AI出图。画得简单一点也可以，重要的是有自己的想法。</a:t>
            </a:r>
          </a:p>
          <a:p xmlns:a="http://schemas.openxmlformats.org/drawingml/2006/main">
            <a:r>
              <a:t>【现场执行】读前后两份回答并指变化，留出观察停顿。不开第三轮自由修改问答。接着发任务单和彩笔。</a:t>
            </a:r>
          </a:p>
          <a:p xmlns:a="http://schemas.openxmlformats.org/drawingml/2006/main">
            <a:r>
              <a:t>本页预算含讲授、理解停顿、指图或制作时间，并非音轨长度。配音未内嵌。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图像来源：Google Noto Emoji，https://github.com/googlefonts/noto-emoji ，未修改图像。图灵动画：Google Noto Animated Emoji，https://googlefonts.github.io/noto-emoji-animation/ ，原文件 https://fonts.gstatic.com/s/e/notoemoji/latest/1f916/512.gif 。动画按CC BY 4.0署名使用，https://creativecommons.org/licenses/by/4.0/ 。本形象为本样课临时角色，不代表独占品牌IP。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配音】请拿出这一张任务单。中间的大空白，是你的画画位置。你可以画想请AI帮忙编的故事，也可以画一个想请它帮助想象的画面。比如小动物的新家、海底的图书馆，或者一位会提醒你整理书包的小帮手。选一个自己喜欢的想法就够了。会写字的同学，可以在下面写一句：我想请AI帮我。不会写字的同学，画出来就可以，老师可以帮忙记一句。</a:t>
            </a:r>
          </a:p>
          <a:p xmlns:a="http://schemas.openxmlformats.org/drawingml/2006/main">
            <a:r>
              <a:t>【现场执行】现场老师展示任务单，示范简单轮廓，不要求全班照抄。App只作为教师收录作品工具，不要求每位学生拿设备。</a:t>
            </a:r>
          </a:p>
          <a:p xmlns:a="http://schemas.openxmlformats.org/drawingml/2006/main">
            <a:r>
              <a:t>本页预算含讲授、理解停顿、指图或制作时间，并非音轨长度。配音未内嵌。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图像来源：Google Noto Emoji，https://github.com/googlefonts/noto-emoji ，未修改图像。图灵动画：Google Noto Animated Emoji，https://googlefonts.github.io/noto-emoji-animation/ ，原文件 https://fonts.gstatic.com/s/e/notoemoji/latest/1f916/512.gif 。动画按CC BY 4.0署名使用，https://creativecommons.org/licenses/by/4.0/ 。本形象为本样课临时角色，不代表独占品牌IP。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【配音】现在有七分钟，请安静画出自己的想法。先画最重要的角色或工具，再添一点你喜欢的东西。不用和别人比，也不用等屏幕给出答案。有需要就轻轻举手，现场老师会来帮助你。</a:t>
            </a:r>
          </a:p>
          <a:p xmlns:a="http://schemas.openxmlformats.org/drawingml/2006/main">
            <a:r>
              <a:t>【现场执行】此页停留7分钟，图灵说完后安静陪伴，不循环口播、不追加提问。现场教师巡回个别帮助，不组织同桌互说。录Demo可以直接跳到下一页，不伪造真实上课用时。</a:t>
            </a:r>
          </a:p>
          <a:p xmlns:a="http://schemas.openxmlformats.org/drawingml/2006/main">
            <a:r>
              <a:t>本页预算含讲授、理解停顿、指图或制作时间，并非音轨长度。配音未内嵌。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图像来源：Google Noto Emoji，https://github.com/googlefonts/noto-emoji ，未修改图像。图灵动画：Google Noto Animated Emoji，https://googlefonts.github.io/noto-emoji-animation/ ，原文件 https://fonts.gstatic.com/s/e/notoemoji/latest/1f916/512.gif 。动画按CC BY 4.0署名使用，https://creativecommons.org/licenses/by/4.0/ 。本形象为本样课临时角色，不代表独占品牌IP。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配音】时间快到了，给作品添上最后一点细节。可以写一个作品代号，不需要写家庭地址和联系方式。如果还没画完，也可以先收好，下次继续。画得多少、字写得多不多，都不是今天比较的事情。请按现场老师的安排交作品，老师会帮忙保存或展示。</a:t>
            </a:r>
          </a:p>
          <a:p xmlns:a="http://schemas.openxmlformats.org/drawingml/2006/main">
            <a:r>
              <a:t>【现场执行】整班收纸卡。录屏演示使用虚构作品，在学生作品页实际保存一件，再切老师点评，不预填成绩。</a:t>
            </a:r>
          </a:p>
          <a:p xmlns:a="http://schemas.openxmlformats.org/drawingml/2006/main">
            <a:r>
              <a:t>本页预算含讲授、理解停顿、指图或制作时间，并非音轨长度。配音未内嵌。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图像来源：Google Noto Emoji，https://github.com/googlefonts/noto-emoji ，未修改图像。图灵动画：Google Noto Animated Emoji，https://googlefonts.github.io/noto-emoji-animation/ ，原文件 https://fonts.gstatic.com/s/e/notoemoji/latest/1f916/512.gif 。动画按CC BY 4.0署名使用，https://creativecommons.org/licenses/by/4.0/ 。本形象为本样课临时角色，不代表独占品牌IP。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配音】现场老师会选两张作品，带大家看看不同的想法。有的同学想编一个故事，有的同学想设计一个小帮手。老师会说一说看见了什么，比如这个角色很清楚，或者这个地方很特别。没有展示到的作品，也同样值得保留。今天不用轮流站起来介绍，不用给同学评分。课后愿意的话，可以把自己的画讲给家人听。</a:t>
            </a:r>
          </a:p>
          <a:p xmlns:a="http://schemas.openxmlformats.org/drawingml/2006/main">
            <a:r>
              <a:t>【现场执行】教师每份作品用约40秒指出一个具体想法，余下时间收尾。学生不逐个上台，不开同伴提问。公开录Demo只用虚构样例。</a:t>
            </a:r>
          </a:p>
          <a:p xmlns:a="http://schemas.openxmlformats.org/drawingml/2006/main">
            <a:r>
              <a:t>本页预算含讲授、理解停顿、指图或制作时间，并非音轨长度。配音未内嵌。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图像来源：Google Noto Emoji，https://github.com/googlefonts/noto-emoji ，未修改图像。图灵动画：Google Noto Animated Emoji，https://googlefonts.github.io/noto-emoji-animation/ ，原文件 https://fonts.gstatic.com/s/e/notoemoji/latest/1f916/512.gif 。动画按CC BY 4.0署名使用，https://creativecommons.org/licenses/by/4.0/ 。本形象为本样课临时角色，不代表独占品牌IP。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配音】今天，我们认识了AI这个工具，也看见它能帮忙处理声音、图片，或者编一个小故事。我们学会把想法说清楚，也知道结果需要检查。如果身体不舒服，或者遇到让你害怕的事，请马上告诉老师或家长。家庭地址和密码，也不用告诉AI。你已经画出一个自己的小想法，把作品收好。下次，我们再听听AI的成长故事。今天就到这里，小小探索员们，再见！</a:t>
            </a:r>
          </a:p>
          <a:p xmlns:a="http://schemas.openxmlformats.org/drawingml/2006/main">
            <a:r>
              <a:t>【现场执行】不再做三题离堂手势测验。教师确认本机课堂完成并发布作品任务，学生可课后回看或自愿小练习。计时显示实际运行时间，录屏快速翻页不宣称真实学习了40分钟。</a:t>
            </a:r>
          </a:p>
          <a:p xmlns:a="http://schemas.openxmlformats.org/drawingml/2006/main">
            <a:r>
              <a:t>本页预算含讲授、理解停顿、指图或制作时间，并非音轨长度。配音未内嵌。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图像来源：Google Noto Emoji，https://github.com/googlefonts/noto-emoji ，未修改图像。图灵动画：Google Noto Animated Emoji，https://googlefonts.github.io/noto-emoji-animation/ ，原文件 https://fonts.gstatic.com/s/e/notoemoji/latest/1f916/512.gif 。动画按CC BY 4.0署名使用，https://creativecommons.org/licenses/by/4.0/ 。本形象为本样课临时角色，不代表独占品牌IP。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68182f00148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acec2279ab47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bcbaffd9442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d8adf69a04e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f5076249074e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2f4bda0c74f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45BF66-1F66-43C4-8902-3EDD14914F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04F6FE-D597-4B1A-883B-43AF464CFA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DDF51D9-68AA-491F-A65A-2407DAD19E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18F109-8269-493D-B4CD-CDC312091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6EB519F-CC0C-4FF3-945B-2C32A95A76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4356E9-BDE1-44A5-B838-EECC2ADC6D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0893CC-B844-4B64-ABAC-19411BDA45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AB12F3-6E9B-43D1-BCAC-29DD07638A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82D827-375D-4C6F-841E-B85F996A12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A124B1-BA14-4C5F-AADD-5C8B82E1BB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1593a3933c4ecf" /><Relationship Type="http://schemas.openxmlformats.org/officeDocument/2006/relationships/slideLayout" Target="/ppt/slideLayouts/slideLayout1.xml" Id="Rbe583c941ef34fe6" /><Relationship Type="http://schemas.openxmlformats.org/officeDocument/2006/relationships/slideLayout" Target="/ppt/slideLayouts/slideLayout2.xml" Id="R81711b10ff6d40fc" /><Relationship Type="http://schemas.openxmlformats.org/officeDocument/2006/relationships/slideLayout" Target="/ppt/slideLayouts/slideLayout3.xml" Id="R1ea99d7df91b49b2" /><Relationship Type="http://schemas.openxmlformats.org/officeDocument/2006/relationships/slideLayout" Target="/ppt/slideLayouts/slideLayout4.xml" Id="R1c7a50193726493f" /><Relationship Type="http://schemas.openxmlformats.org/officeDocument/2006/relationships/slideLayout" Target="/ppt/slideLayouts/slideLayout5.xml" Id="R243cf8243722496f" /><Relationship Type="http://schemas.openxmlformats.org/officeDocument/2006/relationships/slideLayout" Target="/ppt/slideLayouts/slideLayout6.xml" Id="Rf9e142b388ea46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583c941ef34fe6"/>
    <p:sldLayoutId xmlns:r="http://schemas.openxmlformats.org/officeDocument/2006/relationships" id="2147483650" r:id="R81711b10ff6d40fc"/>
    <p:sldLayoutId xmlns:r="http://schemas.openxmlformats.org/officeDocument/2006/relationships" id="2147483651" r:id="R1ea99d7df91b49b2"/>
    <p:sldLayoutId xmlns:r="http://schemas.openxmlformats.org/officeDocument/2006/relationships" id="2147483652" r:id="R1c7a50193726493f"/>
    <p:sldLayoutId xmlns:r="http://schemas.openxmlformats.org/officeDocument/2006/relationships" id="2147483653" r:id="R243cf8243722496f"/>
    <p:sldLayoutId xmlns:r="http://schemas.openxmlformats.org/officeDocument/2006/relationships" id="2147483654" r:id="Rf9e142b388ea46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929071492c4f47" /><Relationship Type="http://schemas.openxmlformats.org/officeDocument/2006/relationships/image" Target="/ppt/media/image.gif" Id="Rd6add9c0a5624be2" /><Relationship Type="http://schemas.openxmlformats.org/officeDocument/2006/relationships/notesSlide" Target="/ppt/notesSlides/notesSlide1.xml" Id="Rce9acde5c2914420" 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b0e4714c6cd40c4"/><Relationship Type="http://schemas.openxmlformats.org/officeDocument/2006/relationships/image" Target="../media/image.gif" Id="R2c06590b266b4340"/><Relationship Type="http://schemas.openxmlformats.org/officeDocument/2006/relationships/image" Target="/ppt/media/image.png" Id="R82a8b4190e7f4894"/><Relationship Type="http://schemas.openxmlformats.org/officeDocument/2006/relationships/image" Target="/ppt/media/image2.png" Id="R1d868227bfc84020"/><Relationship Type="http://schemas.openxmlformats.org/officeDocument/2006/relationships/image" Target="/ppt/media/image3.png" Id="R4da0cf0e455d4c21"/><Relationship Type="http://schemas.openxmlformats.org/officeDocument/2006/relationships/notesSlide" Target="/ppt/notesSlides/notesSlide2.xml" Id="Rf94f2dde5ea34aa1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3fa975eeb7b4d4f"/><Relationship Type="http://schemas.openxmlformats.org/officeDocument/2006/relationships/image" Target="../media/image.gif" Id="Rf0318ec1dde7445a"/><Relationship Type="http://schemas.openxmlformats.org/officeDocument/2006/relationships/image" Target="/ppt/media/image4.png" Id="R1c8307701ab9481d"/><Relationship Type="http://schemas.openxmlformats.org/officeDocument/2006/relationships/image" Target="../media/image.png" Id="Rbf340976229e4400"/><Relationship Type="http://schemas.openxmlformats.org/officeDocument/2006/relationships/hyperlink" Target="https://www.bilibili.com/video/BV1134y1d72L/?p=1" TargetMode="External" Id="Rff3ffc8fdad649f7"/><Relationship Type="http://schemas.openxmlformats.org/officeDocument/2006/relationships/notesSlide" Target="/ppt/notesSlides/notesSlide3.xml" Id="Rb314b202a9e04c0d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e60090c324c4434"/><Relationship Type="http://schemas.openxmlformats.org/officeDocument/2006/relationships/image" Target="../media/image.gif" Id="Rb65f2dc569d644fb"/><Relationship Type="http://schemas.openxmlformats.org/officeDocument/2006/relationships/image" Target="/ppt/media/image6.png" Id="R6ca3360602fb48bc"/><Relationship Type="http://schemas.openxmlformats.org/officeDocument/2006/relationships/image" Target="../media/image2.png" Id="R6ba75e11823d48da"/><Relationship Type="http://schemas.openxmlformats.org/officeDocument/2006/relationships/image" Target="../media/image.png" Id="Re4fded00176049ba"/><Relationship Type="http://schemas.openxmlformats.org/officeDocument/2006/relationships/notesSlide" Target="/ppt/notesSlides/notesSlide4.xml" Id="R67124197a0f74c1b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326084065ea4d78"/><Relationship Type="http://schemas.openxmlformats.org/officeDocument/2006/relationships/image" Target="../media/image.gif" Id="Rf311bcfdcad94028"/><Relationship Type="http://schemas.openxmlformats.org/officeDocument/2006/relationships/image" Target="/ppt/media/image9.png" Id="R495118a5a1fa48bc"/><Relationship Type="http://schemas.openxmlformats.org/officeDocument/2006/relationships/notesSlide" Target="/ppt/notesSlides/notesSlide5.xml" Id="R441ce7ea6259485f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c84eb05b2df4fdd"/><Relationship Type="http://schemas.openxmlformats.org/officeDocument/2006/relationships/image" Target="../media/image.gif" Id="Raff81a0c95c04ac6"/><Relationship Type="http://schemas.openxmlformats.org/officeDocument/2006/relationships/image" Target="../media/image4.png" Id="Rf8ef40c3cb874fdc"/><Relationship Type="http://schemas.openxmlformats.org/officeDocument/2006/relationships/image" Target="/ppt/media/image11.png" Id="R128d57d502f24f97"/><Relationship Type="http://schemas.openxmlformats.org/officeDocument/2006/relationships/hyperlink" Target="https://www.bilibili.com/video/BV1134y1d72L/?p=6" TargetMode="External" Id="R1dce5b09eb644552"/><Relationship Type="http://schemas.openxmlformats.org/officeDocument/2006/relationships/notesSlide" Target="/ppt/notesSlides/notesSlide6.xml" Id="Rdcd35e4cca4a4639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077a44809f94194"/><Relationship Type="http://schemas.openxmlformats.org/officeDocument/2006/relationships/image" Target="../media/image.gif" Id="Re0926ba2c4e44201"/><Relationship Type="http://schemas.openxmlformats.org/officeDocument/2006/relationships/image" Target="../media/image4.png" Id="Ra08f91a930a341ff"/><Relationship Type="http://schemas.openxmlformats.org/officeDocument/2006/relationships/image" Target="../media/image2.png" Id="Rcaace510db45465b"/><Relationship Type="http://schemas.openxmlformats.org/officeDocument/2006/relationships/hyperlink" Target="https://www.bilibili.com/video/BV1134y1d72L/?p=4" TargetMode="External" Id="R5e7fd2d5c3e5449e"/><Relationship Type="http://schemas.openxmlformats.org/officeDocument/2006/relationships/notesSlide" Target="/ppt/notesSlides/notesSlide7.xml" Id="Rd7a6b8bfc12943fe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c2be779cd2d437d"/><Relationship Type="http://schemas.openxmlformats.org/officeDocument/2006/relationships/image" Target="../media/image.gif" Id="R5bf79a17ec514d20"/><Relationship Type="http://schemas.openxmlformats.org/officeDocument/2006/relationships/image" Target="../media/image6.png" Id="R07fe556e3f3c4b6a"/><Relationship Type="http://schemas.openxmlformats.org/officeDocument/2006/relationships/image" Target="../media/image2.png" Id="R22d9307da4d74490"/><Relationship Type="http://schemas.openxmlformats.org/officeDocument/2006/relationships/image" Target="../media/image.png" Id="R034064eb7a1e4061"/><Relationship Type="http://schemas.openxmlformats.org/officeDocument/2006/relationships/notesSlide" Target="/ppt/notesSlides/notesSlide8.xml" Id="R004502e61b7f4251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b6ad9923f3d4b8d"/><Relationship Type="http://schemas.openxmlformats.org/officeDocument/2006/relationships/image" Target="../media/image.gif" Id="Rd13996453ad843c3"/><Relationship Type="http://schemas.openxmlformats.org/officeDocument/2006/relationships/notesSlide" Target="/ppt/notesSlides/notesSlide9.xml" Id="R0d16a5094e194020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f07b40326044f53"/><Relationship Type="http://schemas.openxmlformats.org/officeDocument/2006/relationships/image" Target="../media/image.gif" Id="Raff7421dcb074515"/><Relationship Type="http://schemas.openxmlformats.org/officeDocument/2006/relationships/image" Target="/ppt/media/image17.png" Id="Rcc5e4533fded4db5"/><Relationship Type="http://schemas.openxmlformats.org/officeDocument/2006/relationships/image" Target="/ppt/media/image18.png" Id="R75ae9b2e75c94370"/><Relationship Type="http://schemas.openxmlformats.org/officeDocument/2006/relationships/notesSlide" Target="/ppt/notesSlides/notesSlide10.xml" Id="Rb92295b3fde9497a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1a948e2c6864cbf"/><Relationship Type="http://schemas.openxmlformats.org/officeDocument/2006/relationships/image" Target="../media/image.gif" Id="R5f0652f9b7be45cc"/><Relationship Type="http://schemas.openxmlformats.org/officeDocument/2006/relationships/notesSlide" Target="/ppt/notesSlides/notesSlide11.xml" Id="Rb8ab2090310441a1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da73040d1bb437d"/><Relationship Type="http://schemas.openxmlformats.org/officeDocument/2006/relationships/image" Target="../media/image.gif" Id="R034aa66adfce4b65"/><Relationship Type="http://schemas.openxmlformats.org/officeDocument/2006/relationships/notesSlide" Target="/ppt/notesSlides/notesSlide12.xml" Id="R81cbb08d61234c76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2512dda33dd4285"/><Relationship Type="http://schemas.openxmlformats.org/officeDocument/2006/relationships/image" Target="../media/image.gif" Id="Rf8a835a952de4b3c"/><Relationship Type="http://schemas.openxmlformats.org/officeDocument/2006/relationships/image" Target="/ppt/media/image19.png" Id="R4814753f1b5e4966"/><Relationship Type="http://schemas.openxmlformats.org/officeDocument/2006/relationships/image" Target="../media/image11.png" Id="Rda0aeeb312de473b"/><Relationship Type="http://schemas.openxmlformats.org/officeDocument/2006/relationships/notesSlide" Target="/ppt/notesSlides/notesSlide13.xml" Id="R60585571d0e748ac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28ad80db5444353"/><Relationship Type="http://schemas.openxmlformats.org/officeDocument/2006/relationships/image" Target="../media/image.gif" Id="R31dda0e6e6a84b53"/><Relationship Type="http://schemas.openxmlformats.org/officeDocument/2006/relationships/image" Target="../media/image3.png" Id="R6c43e10a9a8d4684"/><Relationship Type="http://schemas.openxmlformats.org/officeDocument/2006/relationships/image" Target="../media/image19.png" Id="Re587abd29a894160"/><Relationship Type="http://schemas.openxmlformats.org/officeDocument/2006/relationships/notesSlide" Target="/ppt/notesSlides/notesSlide14.xml" Id="R7c80a4ed1b324a57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0dae93e4a7145f0"/><Relationship Type="http://schemas.openxmlformats.org/officeDocument/2006/relationships/image" Target="../media/image.gif" Id="Re7e0742e749948af"/><Relationship Type="http://schemas.openxmlformats.org/officeDocument/2006/relationships/image" Target="../media/image11.png" Id="Rfe4f09752b9e4b00"/><Relationship Type="http://schemas.openxmlformats.org/officeDocument/2006/relationships/image" Target="/ppt/media/image24.png" Id="R4c6bddb9c4ff43ed"/><Relationship Type="http://schemas.openxmlformats.org/officeDocument/2006/relationships/notesSlide" Target="/ppt/notesSlides/notesSlide15.xml" Id="Rbf44f88cd6594603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9aa7242104b4665"/><Relationship Type="http://schemas.openxmlformats.org/officeDocument/2006/relationships/image" Target="../media/image.gif" Id="R99d2c39f0e544d4b"/><Relationship Type="http://schemas.openxmlformats.org/officeDocument/2006/relationships/image" Target="../media/image3.png" Id="Redc7c31e3ad748a1"/><Relationship Type="http://schemas.openxmlformats.org/officeDocument/2006/relationships/image" Target="/ppt/media/image26.png" Id="Rc3af9e7217404d28"/><Relationship Type="http://schemas.openxmlformats.org/officeDocument/2006/relationships/notesSlide" Target="/ppt/notesSlides/notesSlide16.xml" Id="Rffcd86a26a0e4b22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aaf1a2e57574835"/><Relationship Type="http://schemas.openxmlformats.org/officeDocument/2006/relationships/image" Target="../media/image.gif" Id="R9377df1ea86a4d25"/><Relationship Type="http://schemas.openxmlformats.org/officeDocument/2006/relationships/image" Target="../media/image.png" Id="R0e3461a64acf4d41"/><Relationship Type="http://schemas.openxmlformats.org/officeDocument/2006/relationships/image" Target="../media/image2.png" Id="R41a2ed7886c84633"/><Relationship Type="http://schemas.openxmlformats.org/officeDocument/2006/relationships/image" Target="../media/image24.png" Id="R404a7e54880a43fb"/><Relationship Type="http://schemas.openxmlformats.org/officeDocument/2006/relationships/notesSlide" Target="/ppt/notesSlides/notesSlide17.xml" Id="Rdfc00c4dd8da459c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你好，&#10;图灵老师">
            <a:extLst xmlns:a="http://schemas.openxmlformats.org/drawingml/2006/main">
              <a:ext uri="{FF2B5EF4-FFF2-40B4-BE49-F238E27FC236}">
                <a16:creationId xmlns:a16="http://schemas.microsoft.com/office/drawing/2014/main" id="{1BCE1F68-DF1F-49DA-A065-FAA1D61F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571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4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4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你好，</a:t>
            </a:r>
          </a:p>
          <a:p xmlns:a="http://schemas.openxmlformats.org/drawingml/2006/main">
            <a:pPr algn="l">
              <a:defRPr sz="54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4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图灵老师</a:t>
            </a:r>
          </a:p>
        </p:txBody>
      </p:sp>
      <p:sp>
        <p:nvSpPr>
          <p:cNvPr id="2" name="0分—1分">
            <a:extLst xmlns:a="http://schemas.openxmlformats.org/drawingml/2006/main">
              <a:ext uri="{FF2B5EF4-FFF2-40B4-BE49-F238E27FC236}">
                <a16:creationId xmlns:a16="http://schemas.microsoft.com/office/drawing/2014/main" id="{EABB295A-9080-44C2-814D-D48CFD3A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0分—1分</a:t>
            </a:r>
          </a:p>
        </p:txBody>
      </p:sp>
      <p:sp>
        <p:nvSpPr>
          <p:cNvPr id="3" name="开场讲授">
            <a:extLst xmlns:a="http://schemas.openxmlformats.org/drawingml/2006/main">
              <a:ext uri="{FF2B5EF4-FFF2-40B4-BE49-F238E27FC236}">
                <a16:creationId xmlns:a16="http://schemas.microsoft.com/office/drawing/2014/main" id="{0B123014-CF9F-4B0A-8328-BD4A3E73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开场讲授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8D7E8722-1202-46A1-A5F6-33800588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52E10-8DD5-47F5-A6F0-B0046B83A7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dd9c0a5624be2"/>
          <a:stretch xmlns:a="http://schemas.openxmlformats.org/drawingml/2006/main"/>
        </p:blipFill>
        <p:spPr>
          <a:xfrm xmlns:a="http://schemas.openxmlformats.org/drawingml/2006/main">
            <a:off x="6572250" y="1428750"/>
            <a:ext cx="3619500" cy="3619500"/>
          </a:xfrm>
          <a:prstGeom xmlns:a="http://schemas.openxmlformats.org/drawingml/2006/main" prst="rect">
            <a:avLst/>
          </a:prstGeom>
        </p:spPr>
      </p:pic>
      <p:sp>
        <p:nvSpPr>
          <p:cNvPr id="6" name="我的第一节AI探索课">
            <a:extLst xmlns:a="http://schemas.openxmlformats.org/drawingml/2006/main">
              <a:ext uri="{FF2B5EF4-FFF2-40B4-BE49-F238E27FC236}">
                <a16:creationId xmlns:a16="http://schemas.microsoft.com/office/drawing/2014/main" id="{635607BF-02D6-495E-BBD2-30385F15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05125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我的第一节AI探索课</a:t>
            </a:r>
          </a:p>
        </p:txBody>
      </p:sp>
      <p:sp>
        <p:nvSpPr>
          <p:cNvPr id="7" name="看科普，听故事，画想法">
            <a:extLst xmlns:a="http://schemas.openxmlformats.org/drawingml/2006/main">
              <a:ext uri="{FF2B5EF4-FFF2-40B4-BE49-F238E27FC236}">
                <a16:creationId xmlns:a16="http://schemas.microsoft.com/office/drawing/2014/main" id="{D3D03089-1A84-4F35-A79D-FDF845FA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看科普，听故事，画想法</a:t>
            </a:r>
          </a:p>
        </p:txBody>
      </p:sp>
    </p:spTree>
    <p:extLst>
      <p:ext uri="{BB962C8B-B14F-4D97-AF65-F5344CB8AC3E}">
        <p14:creationId xmlns:p14="http://schemas.microsoft.com/office/powerpoint/2010/main" val="1150157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I是人制作的工具">
            <a:extLst xmlns:a="http://schemas.openxmlformats.org/drawingml/2006/main">
              <a:ext uri="{FF2B5EF4-FFF2-40B4-BE49-F238E27FC236}">
                <a16:creationId xmlns:a16="http://schemas.microsoft.com/office/drawing/2014/main" id="{E4C2FE6B-ABCF-4E26-83AA-72F3F109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AI是人制作的工具</a:t>
            </a:r>
          </a:p>
        </p:txBody>
      </p:sp>
      <p:sp>
        <p:nvSpPr>
          <p:cNvPr id="2" name="1分—3分">
            <a:extLst xmlns:a="http://schemas.openxmlformats.org/drawingml/2006/main">
              <a:ext uri="{FF2B5EF4-FFF2-40B4-BE49-F238E27FC236}">
                <a16:creationId xmlns:a16="http://schemas.microsoft.com/office/drawing/2014/main" id="{67410319-47BC-4D2C-9131-E89875EB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1分—3分</a:t>
            </a:r>
          </a:p>
        </p:txBody>
      </p:sp>
      <p:sp>
        <p:nvSpPr>
          <p:cNvPr id="3" name="图灵讲解">
            <a:extLst xmlns:a="http://schemas.openxmlformats.org/drawingml/2006/main">
              <a:ext uri="{FF2B5EF4-FFF2-40B4-BE49-F238E27FC236}">
                <a16:creationId xmlns:a16="http://schemas.microsoft.com/office/drawing/2014/main" id="{48BCC66F-6AAE-4379-B30E-B0DC06B3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图灵讲解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29C4E2E3-99FD-41CD-8BC0-3CB1E742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F2451-B4DD-4403-A61D-59453A8D85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6590b266b4340"/>
          <a:stretch xmlns:a="http://schemas.openxmlformats.org/drawingml/2006/main"/>
        </p:blipFill>
        <p:spPr>
          <a:xfrm xmlns:a="http://schemas.openxmlformats.org/drawingml/2006/main">
            <a:off x="10001250" y="4114800"/>
            <a:ext cx="1666875" cy="1666875"/>
          </a:xfrm>
          <a:prstGeom xmlns:a="http://schemas.openxmlformats.org/drawingml/2006/main" prst="rect">
            <a:avLst/>
          </a:prstGeom>
        </p:spPr>
      </p:pic>
      <p:sp>
        <p:nvSpPr>
          <p:cNvPr id="6" name="图灵老师">
            <a:extLst xmlns:a="http://schemas.openxmlformats.org/drawingml/2006/main">
              <a:ext uri="{FF2B5EF4-FFF2-40B4-BE49-F238E27FC236}">
                <a16:creationId xmlns:a16="http://schemas.microsoft.com/office/drawing/2014/main" id="{E81F5210-245F-4AC5-8BB8-811B23B0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0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图灵老师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84F80-8769-4080-8188-F9889D61DD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8b4190e7f4894"/>
          <a:stretch xmlns:a="http://schemas.openxmlformats.org/drawingml/2006/main"/>
        </p:blipFill>
        <p:spPr>
          <a:xfrm xmlns:a="http://schemas.openxmlformats.org/drawingml/2006/main">
            <a:off x="857250" y="2047875"/>
            <a:ext cx="1762125" cy="176212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B707D-F567-43EB-8F5A-9B01730A0C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68227bfc84020"/>
          <a:stretch xmlns:a="http://schemas.openxmlformats.org/drawingml/2006/main"/>
        </p:blipFill>
        <p:spPr>
          <a:xfrm xmlns:a="http://schemas.openxmlformats.org/drawingml/2006/main">
            <a:off x="3810000" y="2047875"/>
            <a:ext cx="1762125" cy="1762125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8D669-9ABD-488B-A2D6-568128E008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0cf0e455d4c21"/>
          <a:stretch xmlns:a="http://schemas.openxmlformats.org/drawingml/2006/main"/>
        </p:blipFill>
        <p:spPr>
          <a:xfrm xmlns:a="http://schemas.openxmlformats.org/drawingml/2006/main">
            <a:off x="6762750" y="2047875"/>
            <a:ext cx="1762125" cy="1762125"/>
          </a:xfrm>
          <a:prstGeom xmlns:a="http://schemas.openxmlformats.org/drawingml/2006/main" prst="rect">
            <a:avLst/>
          </a:prstGeom>
        </p:spPr>
      </p:pic>
      <p:sp>
        <p:nvSpPr>
          <p:cNvPr id="10" name="AI  人工智能">
            <a:extLst xmlns:a="http://schemas.openxmlformats.org/drawingml/2006/main">
              <a:ext uri="{FF2B5EF4-FFF2-40B4-BE49-F238E27FC236}">
                <a16:creationId xmlns:a16="http://schemas.microsoft.com/office/drawing/2014/main" id="{1967ADF3-9CC0-4031-A3B2-96967D90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881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AI  人工智能</a:t>
            </a:r>
          </a:p>
        </p:txBody>
      </p:sp>
      <p:sp>
        <p:nvSpPr>
          <p:cNvPr id="11" name="可以帮助人完成一些任务">
            <a:extLst xmlns:a="http://schemas.openxmlformats.org/drawingml/2006/main">
              <a:ext uri="{FF2B5EF4-FFF2-40B4-BE49-F238E27FC236}">
                <a16:creationId xmlns:a16="http://schemas.microsoft.com/office/drawing/2014/main" id="{76E4549E-3DD6-4276-AF5F-8F3832E4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890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可以帮助人完成一些任务</a:t>
            </a:r>
          </a:p>
        </p:txBody>
      </p:sp>
    </p:spTree>
    <p:extLst>
      <p:ext uri="{BB962C8B-B14F-4D97-AF65-F5344CB8AC3E}">
        <p14:creationId xmlns:p14="http://schemas.microsoft.com/office/powerpoint/2010/main" val="20222936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短片一 认识AI">
            <a:extLst xmlns:a="http://schemas.openxmlformats.org/drawingml/2006/main">
              <a:ext uri="{FF2B5EF4-FFF2-40B4-BE49-F238E27FC236}">
                <a16:creationId xmlns:a16="http://schemas.microsoft.com/office/drawing/2014/main" id="{2168FE05-063D-4F49-8A39-8F271644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短片一 认识AI</a:t>
            </a:r>
          </a:p>
        </p:txBody>
      </p:sp>
      <p:sp>
        <p:nvSpPr>
          <p:cNvPr id="2" name="3分—6分12秒">
            <a:extLst xmlns:a="http://schemas.openxmlformats.org/drawingml/2006/main">
              <a:ext uri="{FF2B5EF4-FFF2-40B4-BE49-F238E27FC236}">
                <a16:creationId xmlns:a16="http://schemas.microsoft.com/office/drawing/2014/main" id="{8CFBC2A6-9350-4100-84E4-77CBBA95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3分—6分12秒</a:t>
            </a:r>
          </a:p>
        </p:txBody>
      </p:sp>
      <p:sp>
        <p:nvSpPr>
          <p:cNvPr id="3" name="现成科普短片 3分12秒">
            <a:extLst xmlns:a="http://schemas.openxmlformats.org/drawingml/2006/main">
              <a:ext uri="{FF2B5EF4-FFF2-40B4-BE49-F238E27FC236}">
                <a16:creationId xmlns:a16="http://schemas.microsoft.com/office/drawing/2014/main" id="{167EADB7-B5D8-405E-A4B3-BADA634B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现成科普短片 3分12秒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0339A475-7676-4327-897C-8534B2A9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48017-ECDF-4AFB-8154-D8E8023824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18ec1dde7445a"/>
          <a:stretch xmlns:a="http://schemas.openxmlformats.org/drawingml/2006/main"/>
        </p:blipFill>
        <p:spPr>
          <a:xfrm xmlns:a="http://schemas.openxmlformats.org/drawingml/2006/main">
            <a:off x="10001250" y="4114800"/>
            <a:ext cx="1666875" cy="1666875"/>
          </a:xfrm>
          <a:prstGeom xmlns:a="http://schemas.openxmlformats.org/drawingml/2006/main" prst="rect">
            <a:avLst/>
          </a:prstGeom>
        </p:spPr>
      </p:pic>
      <p:sp>
        <p:nvSpPr>
          <p:cNvPr id="6" name="图灵老师">
            <a:extLst xmlns:a="http://schemas.openxmlformats.org/drawingml/2006/main">
              <a:ext uri="{FF2B5EF4-FFF2-40B4-BE49-F238E27FC236}">
                <a16:creationId xmlns:a16="http://schemas.microsoft.com/office/drawing/2014/main" id="{21FCC4EF-B714-495E-A7C6-A359F21F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0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图灵老师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69DFA-51C5-4497-AF5E-692A5D032B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307701ab9481d"/>
          <a:stretch xmlns:a="http://schemas.openxmlformats.org/drawingml/2006/main"/>
        </p:blipFill>
        <p:spPr>
          <a:xfrm xmlns:a="http://schemas.openxmlformats.org/drawingml/2006/main">
            <a:off x="1143000" y="1952625"/>
            <a:ext cx="2286000" cy="228600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17384-9B79-498F-8BD8-C6C45B3F8B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40976229e4400"/>
          <a:stretch xmlns:a="http://schemas.openxmlformats.org/drawingml/2006/main"/>
        </p:blipFill>
        <p:spPr>
          <a:xfrm xmlns:a="http://schemas.openxmlformats.org/drawingml/2006/main">
            <a:off x="5524500" y="204787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9" name="到底什么是人工智能">
            <a:extLst xmlns:a="http://schemas.openxmlformats.org/drawingml/2006/main">
              <a:ext uri="{FF2B5EF4-FFF2-40B4-BE49-F238E27FC236}">
                <a16:creationId xmlns:a16="http://schemas.microsoft.com/office/drawing/2014/main" id="{0707E080-85D2-489F-B95C-A23F6E80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876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到底什么是人工智能</a:t>
            </a:r>
          </a:p>
        </p:txBody>
      </p:sp>
      <p:sp>
        <p:nvSpPr>
          <p:cNvPr id="10" name="科普中国《一次看懂人工智能》第1集  3分1">
            <a:extLst xmlns:a="http://schemas.openxmlformats.org/drawingml/2006/main">
              <a:ext uri="{FF2B5EF4-FFF2-40B4-BE49-F238E27FC236}">
                <a16:creationId xmlns:a16="http://schemas.microsoft.com/office/drawing/2014/main" id="{9456EE0B-B249-4770-9376-A4BDC361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科普中国《一次看懂人工智能》第1集  3分12秒</a:t>
            </a:r>
          </a:p>
        </p:txBody>
      </p:sp>
      <p:sp>
        <p:nvSpPr>
          <p:cNvPr id="11" name="打开科普中国原站视频">
            <a:extLst xmlns:a="http://schemas.openxmlformats.org/drawingml/2006/main">
              <a:ext uri="{FF2B5EF4-FFF2-40B4-BE49-F238E27FC236}">
                <a16:creationId xmlns:a16="http://schemas.microsoft.com/office/drawing/2014/main" id="{1A1661AD-7F50-4826-8E47-39E8F4C0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u="sng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ff3ffc8fdad649f7"/>
              </a:rPr>
              <a:t>打开科普中国原站视频</a:t>
            </a:r>
          </a:p>
        </p:txBody>
      </p:sp>
    </p:spTree>
    <p:extLst>
      <p:ext uri="{BB962C8B-B14F-4D97-AF65-F5344CB8AC3E}">
        <p14:creationId xmlns:p14="http://schemas.microsoft.com/office/powerpoint/2010/main" val="16099904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I在生活里帮忙">
            <a:extLst xmlns:a="http://schemas.openxmlformats.org/drawingml/2006/main">
              <a:ext uri="{FF2B5EF4-FFF2-40B4-BE49-F238E27FC236}">
                <a16:creationId xmlns:a16="http://schemas.microsoft.com/office/drawing/2014/main" id="{13F34FAF-316A-4D03-A16F-05892A9D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AI在生活里帮忙</a:t>
            </a:r>
          </a:p>
        </p:txBody>
      </p:sp>
      <p:sp>
        <p:nvSpPr>
          <p:cNvPr id="2" name="6分12秒—9分">
            <a:extLst xmlns:a="http://schemas.openxmlformats.org/drawingml/2006/main">
              <a:ext uri="{FF2B5EF4-FFF2-40B4-BE49-F238E27FC236}">
                <a16:creationId xmlns:a16="http://schemas.microsoft.com/office/drawing/2014/main" id="{915C4A7D-D6D0-4604-92E7-D11DDB56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6分12秒—9分</a:t>
            </a:r>
          </a:p>
        </p:txBody>
      </p:sp>
      <p:sp>
        <p:nvSpPr>
          <p:cNvPr id="3" name="看图听例子">
            <a:extLst xmlns:a="http://schemas.openxmlformats.org/drawingml/2006/main">
              <a:ext uri="{FF2B5EF4-FFF2-40B4-BE49-F238E27FC236}">
                <a16:creationId xmlns:a16="http://schemas.microsoft.com/office/drawing/2014/main" id="{32983D87-4F68-43FD-9B8A-4573CE71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看图听例子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974D7431-675F-4061-9C09-26A068E5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68BE8-427A-45F4-A6BE-733A2224B1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f2dc569d644fb"/>
          <a:stretch xmlns:a="http://schemas.openxmlformats.org/drawingml/2006/main"/>
        </p:blipFill>
        <p:spPr>
          <a:xfrm xmlns:a="http://schemas.openxmlformats.org/drawingml/2006/main">
            <a:off x="10001250" y="4114800"/>
            <a:ext cx="1666875" cy="1666875"/>
          </a:xfrm>
          <a:prstGeom xmlns:a="http://schemas.openxmlformats.org/drawingml/2006/main" prst="rect">
            <a:avLst/>
          </a:prstGeom>
        </p:spPr>
      </p:pic>
      <p:sp>
        <p:nvSpPr>
          <p:cNvPr id="6" name="图灵老师">
            <a:extLst xmlns:a="http://schemas.openxmlformats.org/drawingml/2006/main">
              <a:ext uri="{FF2B5EF4-FFF2-40B4-BE49-F238E27FC236}">
                <a16:creationId xmlns:a16="http://schemas.microsoft.com/office/drawing/2014/main" id="{CD626F98-89BE-4F94-BB81-4C85CAA3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0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图灵老师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D8B4D-E64A-4853-AC58-160CC4968B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3360602fb48bc"/>
          <a:stretch xmlns:a="http://schemas.openxmlformats.org/drawingml/2006/main"/>
        </p:blipFill>
        <p:spPr>
          <a:xfrm xmlns:a="http://schemas.openxmlformats.org/drawingml/2006/main">
            <a:off x="857250" y="2047875"/>
            <a:ext cx="1762125" cy="176212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BA6B0-23BD-42D4-AACD-8C2F238165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75e11823d48da"/>
          <a:stretch xmlns:a="http://schemas.openxmlformats.org/drawingml/2006/main"/>
        </p:blipFill>
        <p:spPr>
          <a:xfrm xmlns:a="http://schemas.openxmlformats.org/drawingml/2006/main">
            <a:off x="3810000" y="2047875"/>
            <a:ext cx="1762125" cy="1762125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4FCD3-7EA1-4071-8CA3-BF0052A49F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ded00176049ba"/>
          <a:stretch xmlns:a="http://schemas.openxmlformats.org/drawingml/2006/main"/>
        </p:blipFill>
        <p:spPr>
          <a:xfrm xmlns:a="http://schemas.openxmlformats.org/drawingml/2006/main">
            <a:off x="6762750" y="2047875"/>
            <a:ext cx="1762125" cy="1762125"/>
          </a:xfrm>
          <a:prstGeom xmlns:a="http://schemas.openxmlformats.org/drawingml/2006/main" prst="rect">
            <a:avLst/>
          </a:prstGeom>
        </p:spPr>
      </p:pic>
      <p:sp>
        <p:nvSpPr>
          <p:cNvPr id="10" name="听声音  找线索  想故事">
            <a:extLst xmlns:a="http://schemas.openxmlformats.org/drawingml/2006/main">
              <a:ext uri="{FF2B5EF4-FFF2-40B4-BE49-F238E27FC236}">
                <a16:creationId xmlns:a16="http://schemas.microsoft.com/office/drawing/2014/main" id="{042933A2-679E-45CE-8B0C-1047ED5B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881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听声音  找线索  想故事</a:t>
            </a:r>
          </a:p>
        </p:txBody>
      </p:sp>
      <p:sp>
        <p:nvSpPr>
          <p:cNvPr id="11" name="不同工具，有不同本领">
            <a:extLst xmlns:a="http://schemas.openxmlformats.org/drawingml/2006/main">
              <a:ext uri="{FF2B5EF4-FFF2-40B4-BE49-F238E27FC236}">
                <a16:creationId xmlns:a16="http://schemas.microsoft.com/office/drawing/2014/main" id="{5BF063F3-C148-4B03-9C00-A0893DAA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890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不同工具，有不同本领</a:t>
            </a:r>
          </a:p>
        </p:txBody>
      </p:sp>
    </p:spTree>
    <p:extLst>
      <p:ext uri="{BB962C8B-B14F-4D97-AF65-F5344CB8AC3E}">
        <p14:creationId xmlns:p14="http://schemas.microsoft.com/office/powerpoint/2010/main" val="3529129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I也可能认错">
            <a:extLst xmlns:a="http://schemas.openxmlformats.org/drawingml/2006/main">
              <a:ext uri="{FF2B5EF4-FFF2-40B4-BE49-F238E27FC236}">
                <a16:creationId xmlns:a16="http://schemas.microsoft.com/office/drawing/2014/main" id="{AFDBF6B6-DDB0-45AF-9FA9-99C6B1E4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AI也可能认错</a:t>
            </a:r>
          </a:p>
        </p:txBody>
      </p:sp>
      <p:sp>
        <p:nvSpPr>
          <p:cNvPr id="2" name="9分—11分">
            <a:extLst xmlns:a="http://schemas.openxmlformats.org/drawingml/2006/main">
              <a:ext uri="{FF2B5EF4-FFF2-40B4-BE49-F238E27FC236}">
                <a16:creationId xmlns:a16="http://schemas.microsoft.com/office/drawing/2014/main" id="{90BAF32C-07C4-49D3-8260-8055459B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9分—11分</a:t>
            </a:r>
          </a:p>
        </p:txBody>
      </p:sp>
      <p:sp>
        <p:nvSpPr>
          <p:cNvPr id="3" name="教师示范 不追加问答">
            <a:extLst xmlns:a="http://schemas.openxmlformats.org/drawingml/2006/main">
              <a:ext uri="{FF2B5EF4-FFF2-40B4-BE49-F238E27FC236}">
                <a16:creationId xmlns:a16="http://schemas.microsoft.com/office/drawing/2014/main" id="{6FBA6BD7-197B-4B57-8C61-A62377AC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教师示范 不追加问答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1CCD8A40-97BC-46D4-95CC-39C80B35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E326A-5714-4BEC-B59C-22EA79AC64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1bcfdcad94028"/>
          <a:stretch xmlns:a="http://schemas.openxmlformats.org/drawingml/2006/main"/>
        </p:blipFill>
        <p:spPr>
          <a:xfrm xmlns:a="http://schemas.openxmlformats.org/drawingml/2006/main">
            <a:off x="10001250" y="4114800"/>
            <a:ext cx="1666875" cy="1666875"/>
          </a:xfrm>
          <a:prstGeom xmlns:a="http://schemas.openxmlformats.org/drawingml/2006/main" prst="rect">
            <a:avLst/>
          </a:prstGeom>
        </p:spPr>
      </p:pic>
      <p:sp>
        <p:nvSpPr>
          <p:cNvPr id="6" name="图灵老师">
            <a:extLst xmlns:a="http://schemas.openxmlformats.org/drawingml/2006/main">
              <a:ext uri="{FF2B5EF4-FFF2-40B4-BE49-F238E27FC236}">
                <a16:creationId xmlns:a16="http://schemas.microsoft.com/office/drawing/2014/main" id="{F1BE6C76-B000-4665-9278-A7A574F0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0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图灵老师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7111B-FFD0-4B58-A11B-090C70044A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118a5a1fa48bc"/>
          <a:stretch xmlns:a="http://schemas.openxmlformats.org/drawingml/2006/main"/>
        </p:blipFill>
        <p:spPr>
          <a:xfrm xmlns:a="http://schemas.openxmlformats.org/drawingml/2006/main">
            <a:off x="1714500" y="1905000"/>
            <a:ext cx="2571750" cy="2571750"/>
          </a:xfrm>
          <a:prstGeom xmlns:a="http://schemas.openxmlformats.org/drawingml/2006/main" prst="rect">
            <a:avLst/>
          </a:prstGeom>
        </p:spPr>
      </p:pic>
      <p:sp>
        <p:nvSpPr>
          <p:cNvPr id="8" name="小狗？">
            <a:extLst xmlns:a="http://schemas.openxmlformats.org/drawingml/2006/main">
              <a:ext uri="{FF2B5EF4-FFF2-40B4-BE49-F238E27FC236}">
                <a16:creationId xmlns:a16="http://schemas.microsoft.com/office/drawing/2014/main" id="{08E05460-700C-4F3C-8D50-72C41CB9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717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100" b="1">
                <a:solidFill>
                  <a:srgbClr val="D8543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5100" b="1">
                <a:solidFill>
                  <a:srgbClr val="D8543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00" b="1">
                <a:solidFill>
                  <a:srgbClr val="D85439"/>
                </a:solidFill>
                <a:latin typeface="Noto Sans CJK SC"/>
                <a:ea typeface="Noto Sans CJK SC"/>
                <a:cs typeface="Noto Sans CJK SC"/>
              </a:rPr>
              <a:t>小狗？</a:t>
            </a:r>
          </a:p>
        </p:txBody>
      </p:sp>
      <p:sp>
        <p:nvSpPr>
          <p:cNvPr id="9" name="教师故意放错标签，演示需要检查">
            <a:extLst xmlns:a="http://schemas.openxmlformats.org/drawingml/2006/main">
              <a:ext uri="{FF2B5EF4-FFF2-40B4-BE49-F238E27FC236}">
                <a16:creationId xmlns:a16="http://schemas.microsoft.com/office/drawing/2014/main" id="{5D4B0D8B-3083-4C86-9740-F9FC8A57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885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教师故意放错标签，演示需要检查</a:t>
            </a:r>
          </a:p>
        </p:txBody>
      </p:sp>
    </p:spTree>
    <p:extLst>
      <p:ext uri="{BB962C8B-B14F-4D97-AF65-F5344CB8AC3E}">
        <p14:creationId xmlns:p14="http://schemas.microsoft.com/office/powerpoint/2010/main" val="12790576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短片二 听懂声音">
            <a:extLst xmlns:a="http://schemas.openxmlformats.org/drawingml/2006/main">
              <a:ext uri="{FF2B5EF4-FFF2-40B4-BE49-F238E27FC236}">
                <a16:creationId xmlns:a16="http://schemas.microsoft.com/office/drawing/2014/main" id="{69703898-0F5A-46F8-951C-69105477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短片二 听懂声音</a:t>
            </a:r>
          </a:p>
        </p:txBody>
      </p:sp>
      <p:sp>
        <p:nvSpPr>
          <p:cNvPr id="2" name="11分—14分10秒">
            <a:extLst xmlns:a="http://schemas.openxmlformats.org/drawingml/2006/main">
              <a:ext uri="{FF2B5EF4-FFF2-40B4-BE49-F238E27FC236}">
                <a16:creationId xmlns:a16="http://schemas.microsoft.com/office/drawing/2014/main" id="{D9BC1E91-E688-4E1B-8E65-CB8B088E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11分—14分10秒</a:t>
            </a:r>
          </a:p>
        </p:txBody>
      </p:sp>
      <p:sp>
        <p:nvSpPr>
          <p:cNvPr id="3" name="现成科普短片 3分10秒">
            <a:extLst xmlns:a="http://schemas.openxmlformats.org/drawingml/2006/main">
              <a:ext uri="{FF2B5EF4-FFF2-40B4-BE49-F238E27FC236}">
                <a16:creationId xmlns:a16="http://schemas.microsoft.com/office/drawing/2014/main" id="{895BB8B4-4D2F-45B8-9C96-8C480B4B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现成科普短片 3分10秒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DE43C0C8-3438-4F9D-BDDE-04419100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1D22B-7C3D-4878-BFC6-0CE24A4B44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81a0c95c04ac6"/>
          <a:stretch xmlns:a="http://schemas.openxmlformats.org/drawingml/2006/main"/>
        </p:blipFill>
        <p:spPr>
          <a:xfrm xmlns:a="http://schemas.openxmlformats.org/drawingml/2006/main">
            <a:off x="10001250" y="4114800"/>
            <a:ext cx="1666875" cy="1666875"/>
          </a:xfrm>
          <a:prstGeom xmlns:a="http://schemas.openxmlformats.org/drawingml/2006/main" prst="rect">
            <a:avLst/>
          </a:prstGeom>
        </p:spPr>
      </p:pic>
      <p:sp>
        <p:nvSpPr>
          <p:cNvPr id="6" name="图灵老师">
            <a:extLst xmlns:a="http://schemas.openxmlformats.org/drawingml/2006/main">
              <a:ext uri="{FF2B5EF4-FFF2-40B4-BE49-F238E27FC236}">
                <a16:creationId xmlns:a16="http://schemas.microsoft.com/office/drawing/2014/main" id="{F69D4C5C-41AE-4C70-9ED5-299455B1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0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图灵老师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0A39E-0271-4F1D-A83A-43377ECD71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f40c3cb874fdc"/>
          <a:stretch xmlns:a="http://schemas.openxmlformats.org/drawingml/2006/main"/>
        </p:blipFill>
        <p:spPr>
          <a:xfrm xmlns:a="http://schemas.openxmlformats.org/drawingml/2006/main">
            <a:off x="1143000" y="1952625"/>
            <a:ext cx="2286000" cy="228600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8ACD1-27FC-4363-9630-204325444F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d57d502f24f97"/>
          <a:stretch xmlns:a="http://schemas.openxmlformats.org/drawingml/2006/main"/>
        </p:blipFill>
        <p:spPr>
          <a:xfrm xmlns:a="http://schemas.openxmlformats.org/drawingml/2006/main">
            <a:off x="5524500" y="204787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9" name="AI是怎样识别语音的">
            <a:extLst xmlns:a="http://schemas.openxmlformats.org/drawingml/2006/main">
              <a:ext uri="{FF2B5EF4-FFF2-40B4-BE49-F238E27FC236}">
                <a16:creationId xmlns:a16="http://schemas.microsoft.com/office/drawing/2014/main" id="{95FB5046-EA99-45F6-B430-864BF5D6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876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AI是怎样识别语音的</a:t>
            </a:r>
          </a:p>
        </p:txBody>
      </p:sp>
      <p:sp>
        <p:nvSpPr>
          <p:cNvPr id="10" name="科普中国《一次看懂人工智能》第6集  3分1">
            <a:extLst xmlns:a="http://schemas.openxmlformats.org/drawingml/2006/main">
              <a:ext uri="{FF2B5EF4-FFF2-40B4-BE49-F238E27FC236}">
                <a16:creationId xmlns:a16="http://schemas.microsoft.com/office/drawing/2014/main" id="{3A6F3330-4CB4-4C00-A2A9-CF99EE07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科普中国《一次看懂人工智能》第6集  3分10秒</a:t>
            </a:r>
          </a:p>
        </p:txBody>
      </p:sp>
      <p:sp>
        <p:nvSpPr>
          <p:cNvPr id="11" name="打开科普中国原站视频">
            <a:extLst xmlns:a="http://schemas.openxmlformats.org/drawingml/2006/main">
              <a:ext uri="{FF2B5EF4-FFF2-40B4-BE49-F238E27FC236}">
                <a16:creationId xmlns:a16="http://schemas.microsoft.com/office/drawing/2014/main" id="{64D1996A-6C03-488D-828E-A3A756EA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u="sng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1dce5b09eb644552"/>
              </a:rPr>
              <a:t>打开科普中国原站视频</a:t>
            </a:r>
          </a:p>
        </p:txBody>
      </p:sp>
    </p:spTree>
    <p:extLst>
      <p:ext uri="{BB962C8B-B14F-4D97-AF65-F5344CB8AC3E}">
        <p14:creationId xmlns:p14="http://schemas.microsoft.com/office/powerpoint/2010/main" val="17178786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短片三 从例子里学习">
            <a:extLst xmlns:a="http://schemas.openxmlformats.org/drawingml/2006/main">
              <a:ext uri="{FF2B5EF4-FFF2-40B4-BE49-F238E27FC236}">
                <a16:creationId xmlns:a16="http://schemas.microsoft.com/office/drawing/2014/main" id="{CD9EC9A3-59AF-43AB-AE25-0F597B3A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短片三 从例子里学习</a:t>
            </a:r>
          </a:p>
        </p:txBody>
      </p:sp>
      <p:sp>
        <p:nvSpPr>
          <p:cNvPr id="2" name="14分10秒—17分8秒">
            <a:extLst xmlns:a="http://schemas.openxmlformats.org/drawingml/2006/main">
              <a:ext uri="{FF2B5EF4-FFF2-40B4-BE49-F238E27FC236}">
                <a16:creationId xmlns:a16="http://schemas.microsoft.com/office/drawing/2014/main" id="{0958B263-D296-43AD-BA39-83270D83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14分10秒—17分8秒</a:t>
            </a:r>
          </a:p>
        </p:txBody>
      </p:sp>
      <p:sp>
        <p:nvSpPr>
          <p:cNvPr id="3" name="现成科普短片 2分58秒">
            <a:extLst xmlns:a="http://schemas.openxmlformats.org/drawingml/2006/main">
              <a:ext uri="{FF2B5EF4-FFF2-40B4-BE49-F238E27FC236}">
                <a16:creationId xmlns:a16="http://schemas.microsoft.com/office/drawing/2014/main" id="{4D36DB58-7B13-4137-8F37-609E62B2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现成科普短片 2分58秒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2786704A-E0C7-4F2E-91D4-63B339F8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D9D8F-3DCF-4302-9387-9A29938078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26ba2c4e44201"/>
          <a:stretch xmlns:a="http://schemas.openxmlformats.org/drawingml/2006/main"/>
        </p:blipFill>
        <p:spPr>
          <a:xfrm xmlns:a="http://schemas.openxmlformats.org/drawingml/2006/main">
            <a:off x="10001250" y="4114800"/>
            <a:ext cx="1666875" cy="1666875"/>
          </a:xfrm>
          <a:prstGeom xmlns:a="http://schemas.openxmlformats.org/drawingml/2006/main" prst="rect">
            <a:avLst/>
          </a:prstGeom>
        </p:spPr>
      </p:pic>
      <p:sp>
        <p:nvSpPr>
          <p:cNvPr id="6" name="图灵老师">
            <a:extLst xmlns:a="http://schemas.openxmlformats.org/drawingml/2006/main">
              <a:ext uri="{FF2B5EF4-FFF2-40B4-BE49-F238E27FC236}">
                <a16:creationId xmlns:a16="http://schemas.microsoft.com/office/drawing/2014/main" id="{9E0CB768-E4FC-4C47-9CF3-BA56F0A9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0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图灵老师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385B4-CFA2-4D2F-A53E-EFBC723666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8f91a930a341ff"/>
          <a:stretch xmlns:a="http://schemas.openxmlformats.org/drawingml/2006/main"/>
        </p:blipFill>
        <p:spPr>
          <a:xfrm xmlns:a="http://schemas.openxmlformats.org/drawingml/2006/main">
            <a:off x="1143000" y="1952625"/>
            <a:ext cx="2286000" cy="228600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64A77-0239-4F06-A943-2B529C8B7C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ce510db45465b"/>
          <a:stretch xmlns:a="http://schemas.openxmlformats.org/drawingml/2006/main"/>
        </p:blipFill>
        <p:spPr>
          <a:xfrm xmlns:a="http://schemas.openxmlformats.org/drawingml/2006/main">
            <a:off x="5524500" y="204787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9" name="科学家们怎样训练人工智能">
            <a:extLst xmlns:a="http://schemas.openxmlformats.org/drawingml/2006/main">
              <a:ext uri="{FF2B5EF4-FFF2-40B4-BE49-F238E27FC236}">
                <a16:creationId xmlns:a16="http://schemas.microsoft.com/office/drawing/2014/main" id="{FAA3334C-7B27-42C4-9B7D-49C660AF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876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科学家们怎样训练人工智能</a:t>
            </a:r>
          </a:p>
        </p:txBody>
      </p:sp>
      <p:sp>
        <p:nvSpPr>
          <p:cNvPr id="10" name="科普中国《一次看懂人工智能》第4集  2分5">
            <a:extLst xmlns:a="http://schemas.openxmlformats.org/drawingml/2006/main">
              <a:ext uri="{FF2B5EF4-FFF2-40B4-BE49-F238E27FC236}">
                <a16:creationId xmlns:a16="http://schemas.microsoft.com/office/drawing/2014/main" id="{45F84EF3-7526-45AE-8E6C-B80CCC6C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科普中国《一次看懂人工智能》第4集  2分58秒</a:t>
            </a:r>
          </a:p>
        </p:txBody>
      </p:sp>
      <p:sp>
        <p:nvSpPr>
          <p:cNvPr id="11" name="打开科普中国原站视频">
            <a:extLst xmlns:a="http://schemas.openxmlformats.org/drawingml/2006/main">
              <a:ext uri="{FF2B5EF4-FFF2-40B4-BE49-F238E27FC236}">
                <a16:creationId xmlns:a16="http://schemas.microsoft.com/office/drawing/2014/main" id="{346E8C74-DD73-4BF3-AF35-D435A733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u="sng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5e7fd2d5c3e5449e"/>
              </a:rPr>
              <a:t>打开科普中国原站视频</a:t>
            </a:r>
          </a:p>
        </p:txBody>
      </p:sp>
    </p:spTree>
    <p:extLst>
      <p:ext uri="{BB962C8B-B14F-4D97-AF65-F5344CB8AC3E}">
        <p14:creationId xmlns:p14="http://schemas.microsoft.com/office/powerpoint/2010/main" val="12296941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你见过哪一种">
            <a:extLst xmlns:a="http://schemas.openxmlformats.org/drawingml/2006/main">
              <a:ext uri="{FF2B5EF4-FFF2-40B4-BE49-F238E27FC236}">
                <a16:creationId xmlns:a16="http://schemas.microsoft.com/office/drawing/2014/main" id="{38B4F586-463E-4C2B-93DE-CF124AA0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你见过哪一种</a:t>
            </a:r>
          </a:p>
        </p:txBody>
      </p:sp>
      <p:sp>
        <p:nvSpPr>
          <p:cNvPr id="2" name="17分8秒—18分">
            <a:extLst xmlns:a="http://schemas.openxmlformats.org/drawingml/2006/main">
              <a:ext uri="{FF2B5EF4-FFF2-40B4-BE49-F238E27FC236}">
                <a16:creationId xmlns:a16="http://schemas.microsoft.com/office/drawing/2014/main" id="{F68DC9D9-F14C-458A-9272-3335517A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17分8秒—18分</a:t>
            </a:r>
          </a:p>
        </p:txBody>
      </p:sp>
      <p:sp>
        <p:nvSpPr>
          <p:cNvPr id="3" name="集体回应一 20秒举手">
            <a:extLst xmlns:a="http://schemas.openxmlformats.org/drawingml/2006/main">
              <a:ext uri="{FF2B5EF4-FFF2-40B4-BE49-F238E27FC236}">
                <a16:creationId xmlns:a16="http://schemas.microsoft.com/office/drawing/2014/main" id="{F591A9C3-D124-4A18-82D0-E3A03130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集体回应一 20秒举手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2F34013B-8C88-4690-9CC5-574F4D07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4F3B9-5DBC-41A8-9CBF-7F55586C47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79a17ec514d20"/>
          <a:stretch xmlns:a="http://schemas.openxmlformats.org/drawingml/2006/main"/>
        </p:blipFill>
        <p:spPr>
          <a:xfrm xmlns:a="http://schemas.openxmlformats.org/drawingml/2006/main">
            <a:off x="10001250" y="4114800"/>
            <a:ext cx="1666875" cy="1666875"/>
          </a:xfrm>
          <a:prstGeom xmlns:a="http://schemas.openxmlformats.org/drawingml/2006/main" prst="rect">
            <a:avLst/>
          </a:prstGeom>
        </p:spPr>
      </p:pic>
      <p:sp>
        <p:nvSpPr>
          <p:cNvPr id="6" name="图灵老师">
            <a:extLst xmlns:a="http://schemas.openxmlformats.org/drawingml/2006/main">
              <a:ext uri="{FF2B5EF4-FFF2-40B4-BE49-F238E27FC236}">
                <a16:creationId xmlns:a16="http://schemas.microsoft.com/office/drawing/2014/main" id="{920CC922-9B61-475D-A7A4-92D3A7C2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0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图灵老师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B5A23-097E-4A8D-97C8-9D1343E218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e556e3f3c4b6a"/>
          <a:stretch xmlns:a="http://schemas.openxmlformats.org/drawingml/2006/main"/>
        </p:blipFill>
        <p:spPr>
          <a:xfrm xmlns:a="http://schemas.openxmlformats.org/drawingml/2006/main">
            <a:off x="857250" y="2047875"/>
            <a:ext cx="1762125" cy="176212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06959-E207-4911-A40C-58E0A74DFF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9307da4d74490"/>
          <a:stretch xmlns:a="http://schemas.openxmlformats.org/drawingml/2006/main"/>
        </p:blipFill>
        <p:spPr>
          <a:xfrm xmlns:a="http://schemas.openxmlformats.org/drawingml/2006/main">
            <a:off x="3810000" y="2047875"/>
            <a:ext cx="1762125" cy="1762125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DDEB9-1561-4214-AC27-B926F5CEAE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064eb7a1e4061"/>
          <a:stretch xmlns:a="http://schemas.openxmlformats.org/drawingml/2006/main"/>
        </p:blipFill>
        <p:spPr>
          <a:xfrm xmlns:a="http://schemas.openxmlformats.org/drawingml/2006/main">
            <a:off x="6762750" y="2047875"/>
            <a:ext cx="1762125" cy="1762125"/>
          </a:xfrm>
          <a:prstGeom xmlns:a="http://schemas.openxmlformats.org/drawingml/2006/main" prst="rect">
            <a:avLst/>
          </a:prstGeom>
        </p:spPr>
      </p:pic>
      <p:sp>
        <p:nvSpPr>
          <p:cNvPr id="10" name="听声音  看图片  编故事">
            <a:extLst xmlns:a="http://schemas.openxmlformats.org/drawingml/2006/main">
              <a:ext uri="{FF2B5EF4-FFF2-40B4-BE49-F238E27FC236}">
                <a16:creationId xmlns:a16="http://schemas.microsoft.com/office/drawing/2014/main" id="{845E71D3-77C3-4AB4-A9EF-1A15938D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881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听声音  看图片  编故事</a:t>
            </a:r>
          </a:p>
        </p:txBody>
      </p:sp>
      <p:sp>
        <p:nvSpPr>
          <p:cNvPr id="11" name="见过就举手，不用轮流回答">
            <a:extLst xmlns:a="http://schemas.openxmlformats.org/drawingml/2006/main">
              <a:ext uri="{FF2B5EF4-FFF2-40B4-BE49-F238E27FC236}">
                <a16:creationId xmlns:a16="http://schemas.microsoft.com/office/drawing/2014/main" id="{67629D30-858E-420B-ACC3-1A0E0FDA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890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见过就举手，不用轮流回答</a:t>
            </a:r>
          </a:p>
        </p:txBody>
      </p:sp>
    </p:spTree>
    <p:extLst>
      <p:ext uri="{BB962C8B-B14F-4D97-AF65-F5344CB8AC3E}">
        <p14:creationId xmlns:p14="http://schemas.microsoft.com/office/powerpoint/2010/main" val="14860321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看AI编一个故事">
            <a:extLst xmlns:a="http://schemas.openxmlformats.org/drawingml/2006/main">
              <a:ext uri="{FF2B5EF4-FFF2-40B4-BE49-F238E27FC236}">
                <a16:creationId xmlns:a16="http://schemas.microsoft.com/office/drawing/2014/main" id="{4300C13A-00CA-4A61-A689-C27AB4C3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看AI编一个故事</a:t>
            </a:r>
          </a:p>
        </p:txBody>
      </p:sp>
      <p:sp>
        <p:nvSpPr>
          <p:cNvPr id="2" name="18分—20分">
            <a:extLst xmlns:a="http://schemas.openxmlformats.org/drawingml/2006/main">
              <a:ext uri="{FF2B5EF4-FFF2-40B4-BE49-F238E27FC236}">
                <a16:creationId xmlns:a16="http://schemas.microsoft.com/office/drawing/2014/main" id="{1F9A325A-9636-48D2-9450-C9C0247B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18分—20分</a:t>
            </a:r>
          </a:p>
        </p:txBody>
      </p:sp>
      <p:sp>
        <p:nvSpPr>
          <p:cNvPr id="3" name="预制对话演示">
            <a:extLst xmlns:a="http://schemas.openxmlformats.org/drawingml/2006/main">
              <a:ext uri="{FF2B5EF4-FFF2-40B4-BE49-F238E27FC236}">
                <a16:creationId xmlns:a16="http://schemas.microsoft.com/office/drawing/2014/main" id="{3CC86251-A041-4C92-B2FF-B4553DDE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预制对话演示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6AEC0B26-13E8-46EF-B88E-D0D0ECC0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A3E40-93EF-431B-A645-01CFA513A2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996453ad843c3"/>
          <a:stretch xmlns:a="http://schemas.openxmlformats.org/drawingml/2006/main"/>
        </p:blipFill>
        <p:spPr>
          <a:xfrm xmlns:a="http://schemas.openxmlformats.org/drawingml/2006/main">
            <a:off x="10001250" y="4114800"/>
            <a:ext cx="1666875" cy="1666875"/>
          </a:xfrm>
          <a:prstGeom xmlns:a="http://schemas.openxmlformats.org/drawingml/2006/main" prst="rect">
            <a:avLst/>
          </a:prstGeom>
        </p:spPr>
      </p:pic>
      <p:sp>
        <p:nvSpPr>
          <p:cNvPr id="6" name="图灵老师">
            <a:extLst xmlns:a="http://schemas.openxmlformats.org/drawingml/2006/main">
              <a:ext uri="{FF2B5EF4-FFF2-40B4-BE49-F238E27FC236}">
                <a16:creationId xmlns:a16="http://schemas.microsoft.com/office/drawing/2014/main" id="{32866911-A2B4-48A0-AD0E-F27CFFE1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0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图灵老师</a:t>
            </a:r>
          </a:p>
        </p:txBody>
      </p:sp>
      <p:sp>
        <p:nvSpPr>
          <p:cNvPr id="7" name="课前准备的对话示例">
            <a:extLst xmlns:a="http://schemas.openxmlformats.org/drawingml/2006/main">
              <a:ext uri="{FF2B5EF4-FFF2-40B4-BE49-F238E27FC236}">
                <a16:creationId xmlns:a16="http://schemas.microsoft.com/office/drawing/2014/main" id="{151C3100-673C-45EB-964A-BB9F7C05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课前准备的对话示例</a:t>
            </a:r>
          </a:p>
        </p:txBody>
      </p:sp>
      <p:sp>
        <p:nvSpPr>
          <p:cNvPr id="8" name="请求">
            <a:extLst xmlns:a="http://schemas.openxmlformats.org/drawingml/2006/main">
              <a:ext uri="{FF2B5EF4-FFF2-40B4-BE49-F238E27FC236}">
                <a16:creationId xmlns:a16="http://schemas.microsoft.com/office/drawing/2014/main" id="{6241BFF0-EC0E-408F-B895-BE372316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请求</a:t>
            </a:r>
          </a:p>
        </p:txBody>
      </p:sp>
      <p:sp>
        <p:nvSpPr>
          <p:cNvPr id="9" name="帮我编个故事。">
            <a:extLst xmlns:a="http://schemas.openxmlformats.org/drawingml/2006/main">
              <a:ext uri="{FF2B5EF4-FFF2-40B4-BE49-F238E27FC236}">
                <a16:creationId xmlns:a16="http://schemas.microsoft.com/office/drawing/2014/main" id="{7374385F-BA98-4041-8916-A77A6A1C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885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帮我编个故事。</a:t>
            </a:r>
          </a:p>
        </p:txBody>
      </p:sp>
      <p:sp>
        <p:nvSpPr>
          <p:cNvPr id="10" name="示例回答">
            <a:extLst xmlns:a="http://schemas.openxmlformats.org/drawingml/2006/main">
              <a:ext uri="{FF2B5EF4-FFF2-40B4-BE49-F238E27FC236}">
                <a16:creationId xmlns:a16="http://schemas.microsoft.com/office/drawing/2014/main" id="{90543BE2-D0F2-4387-9480-936E3AAC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示例回答</a:t>
            </a:r>
          </a:p>
        </p:txBody>
      </p:sp>
      <p:sp>
        <p:nvSpPr>
          <p:cNvPr id="11" name="小熊出门去玩，遇到一位新朋友。它们一起度过快">
            <a:extLst xmlns:a="http://schemas.openxmlformats.org/drawingml/2006/main">
              <a:ext uri="{FF2B5EF4-FFF2-40B4-BE49-F238E27FC236}">
                <a16:creationId xmlns:a16="http://schemas.microsoft.com/office/drawing/2014/main" id="{CDEB68F3-42A3-4390-9097-674A293F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8905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小熊出门去玩，遇到一位新朋友。它们一起度过快乐的一天。</a:t>
            </a:r>
          </a:p>
        </p:txBody>
      </p:sp>
      <p:sp>
        <p:nvSpPr>
          <p:cNvPr id="12" name="想象故事，真实月亮不能直接这样种菜">
            <a:extLst xmlns:a="http://schemas.openxmlformats.org/drawingml/2006/main">
              <a:ext uri="{FF2B5EF4-FFF2-40B4-BE49-F238E27FC236}">
                <a16:creationId xmlns:a16="http://schemas.microsoft.com/office/drawing/2014/main" id="{08EE9576-0205-4303-9541-52D210AB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890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想象故事，真实月亮不能直接这样种菜</a:t>
            </a:r>
          </a:p>
        </p:txBody>
      </p:sp>
    </p:spTree>
    <p:extLst>
      <p:ext uri="{BB962C8B-B14F-4D97-AF65-F5344CB8AC3E}">
        <p14:creationId xmlns:p14="http://schemas.microsoft.com/office/powerpoint/2010/main" val="20572663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选一个故事主角">
            <a:extLst xmlns:a="http://schemas.openxmlformats.org/drawingml/2006/main">
              <a:ext uri="{FF2B5EF4-FFF2-40B4-BE49-F238E27FC236}">
                <a16:creationId xmlns:a16="http://schemas.microsoft.com/office/drawing/2014/main" id="{B8CC9767-DDF3-4BF2-A777-8483652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选一个故事主角</a:t>
            </a:r>
          </a:p>
        </p:txBody>
      </p:sp>
      <p:sp>
        <p:nvSpPr>
          <p:cNvPr id="2" name="20分—21分">
            <a:extLst xmlns:a="http://schemas.openxmlformats.org/drawingml/2006/main">
              <a:ext uri="{FF2B5EF4-FFF2-40B4-BE49-F238E27FC236}">
                <a16:creationId xmlns:a16="http://schemas.microsoft.com/office/drawing/2014/main" id="{A301384E-A4C2-4257-A79C-9F1CBB6F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20分—21分</a:t>
            </a:r>
          </a:p>
        </p:txBody>
      </p:sp>
      <p:sp>
        <p:nvSpPr>
          <p:cNvPr id="3" name="集体回应二 20秒选择">
            <a:extLst xmlns:a="http://schemas.openxmlformats.org/drawingml/2006/main">
              <a:ext uri="{FF2B5EF4-FFF2-40B4-BE49-F238E27FC236}">
                <a16:creationId xmlns:a16="http://schemas.microsoft.com/office/drawing/2014/main" id="{D21901FC-3F8C-4E23-962C-C6682E63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集体回应二 20秒选择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467CF375-519A-4294-B676-0AB9531A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66A5D-C7F2-4CF2-831A-2F79D0E1FC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7421dcb074515"/>
          <a:stretch xmlns:a="http://schemas.openxmlformats.org/drawingml/2006/main"/>
        </p:blipFill>
        <p:spPr>
          <a:xfrm xmlns:a="http://schemas.openxmlformats.org/drawingml/2006/main">
            <a:off x="10001250" y="4114800"/>
            <a:ext cx="1666875" cy="1666875"/>
          </a:xfrm>
          <a:prstGeom xmlns:a="http://schemas.openxmlformats.org/drawingml/2006/main" prst="rect">
            <a:avLst/>
          </a:prstGeom>
        </p:spPr>
      </p:pic>
      <p:sp>
        <p:nvSpPr>
          <p:cNvPr id="6" name="图灵老师">
            <a:extLst xmlns:a="http://schemas.openxmlformats.org/drawingml/2006/main">
              <a:ext uri="{FF2B5EF4-FFF2-40B4-BE49-F238E27FC236}">
                <a16:creationId xmlns:a16="http://schemas.microsoft.com/office/drawing/2014/main" id="{0A3AD403-1DFF-4415-9B73-D2C636DC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0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图灵老师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64B45-2F49-4220-8EFC-0C7D2EF107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e4533fded4db5"/>
          <a:stretch xmlns:a="http://schemas.openxmlformats.org/drawingml/2006/main"/>
        </p:blipFill>
        <p:spPr>
          <a:xfrm xmlns:a="http://schemas.openxmlformats.org/drawingml/2006/main">
            <a:off x="1524000" y="1952625"/>
            <a:ext cx="2190750" cy="21907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8E0A3-CAE4-4569-B872-C1C80F11D1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e9b2e75c94370"/>
          <a:stretch xmlns:a="http://schemas.openxmlformats.org/drawingml/2006/main"/>
        </p:blipFill>
        <p:spPr>
          <a:xfrm xmlns:a="http://schemas.openxmlformats.org/drawingml/2006/main">
            <a:off x="5905500" y="1952625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9" name="小兔">
            <a:extLst xmlns:a="http://schemas.openxmlformats.org/drawingml/2006/main">
              <a:ext uri="{FF2B5EF4-FFF2-40B4-BE49-F238E27FC236}">
                <a16:creationId xmlns:a16="http://schemas.microsoft.com/office/drawing/2014/main" id="{632DCF14-CEC9-408E-826F-78276991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2912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小兔</a:t>
            </a:r>
          </a:p>
        </p:txBody>
      </p:sp>
      <p:sp>
        <p:nvSpPr>
          <p:cNvPr id="10" name="小熊">
            <a:extLst xmlns:a="http://schemas.openxmlformats.org/drawingml/2006/main">
              <a:ext uri="{FF2B5EF4-FFF2-40B4-BE49-F238E27FC236}">
                <a16:creationId xmlns:a16="http://schemas.microsoft.com/office/drawing/2014/main" id="{FBB032B4-2898-4121-A07D-1E52E649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2912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小熊</a:t>
            </a:r>
          </a:p>
        </p:txBody>
      </p:sp>
      <p:sp>
        <p:nvSpPr>
          <p:cNvPr id="11" name="只选一次，老师接着演示">
            <a:extLst xmlns:a="http://schemas.openxmlformats.org/drawingml/2006/main">
              <a:ext uri="{FF2B5EF4-FFF2-40B4-BE49-F238E27FC236}">
                <a16:creationId xmlns:a16="http://schemas.microsoft.com/office/drawing/2014/main" id="{F1FF98C2-3595-4217-B5C3-5DBF3511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只选一次，老师接着演示</a:t>
            </a:r>
          </a:p>
        </p:txBody>
      </p:sp>
    </p:spTree>
    <p:extLst>
      <p:ext uri="{BB962C8B-B14F-4D97-AF65-F5344CB8AC3E}">
        <p14:creationId xmlns:p14="http://schemas.microsoft.com/office/powerpoint/2010/main" val="9654991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把想法说清楚">
            <a:extLst xmlns:a="http://schemas.openxmlformats.org/drawingml/2006/main">
              <a:ext uri="{FF2B5EF4-FFF2-40B4-BE49-F238E27FC236}">
                <a16:creationId xmlns:a16="http://schemas.microsoft.com/office/drawing/2014/main" id="{2157C596-45AB-423A-8EDF-7DC92037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把想法说清楚</a:t>
            </a:r>
          </a:p>
        </p:txBody>
      </p:sp>
      <p:sp>
        <p:nvSpPr>
          <p:cNvPr id="2" name="21分—23分">
            <a:extLst xmlns:a="http://schemas.openxmlformats.org/drawingml/2006/main">
              <a:ext uri="{FF2B5EF4-FFF2-40B4-BE49-F238E27FC236}">
                <a16:creationId xmlns:a16="http://schemas.microsoft.com/office/drawing/2014/main" id="{09E78BF5-C231-4076-9320-77088655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21分—23分</a:t>
            </a:r>
          </a:p>
        </p:txBody>
      </p:sp>
      <p:sp>
        <p:nvSpPr>
          <p:cNvPr id="3" name="预制对话演示">
            <a:extLst xmlns:a="http://schemas.openxmlformats.org/drawingml/2006/main">
              <a:ext uri="{FF2B5EF4-FFF2-40B4-BE49-F238E27FC236}">
                <a16:creationId xmlns:a16="http://schemas.microsoft.com/office/drawing/2014/main" id="{D0E98D10-EA34-4202-9CED-FAC87DEE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预制对话演示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7EA823E9-9B05-4C05-8C13-A394A613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4C833-832C-4796-A338-B732B67799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652f9b7be45cc"/>
          <a:stretch xmlns:a="http://schemas.openxmlformats.org/drawingml/2006/main"/>
        </p:blipFill>
        <p:spPr>
          <a:xfrm xmlns:a="http://schemas.openxmlformats.org/drawingml/2006/main">
            <a:off x="10001250" y="4114800"/>
            <a:ext cx="1666875" cy="1666875"/>
          </a:xfrm>
          <a:prstGeom xmlns:a="http://schemas.openxmlformats.org/drawingml/2006/main" prst="rect">
            <a:avLst/>
          </a:prstGeom>
        </p:spPr>
      </p:pic>
      <p:sp>
        <p:nvSpPr>
          <p:cNvPr id="6" name="图灵老师">
            <a:extLst xmlns:a="http://schemas.openxmlformats.org/drawingml/2006/main">
              <a:ext uri="{FF2B5EF4-FFF2-40B4-BE49-F238E27FC236}">
                <a16:creationId xmlns:a16="http://schemas.microsoft.com/office/drawing/2014/main" id="{0C1A5868-16EB-4CE3-970D-BDDC98F9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0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图灵老师</a:t>
            </a:r>
          </a:p>
        </p:txBody>
      </p:sp>
      <p:sp>
        <p:nvSpPr>
          <p:cNvPr id="7" name="课前准备的对话示例">
            <a:extLst xmlns:a="http://schemas.openxmlformats.org/drawingml/2006/main">
              <a:ext uri="{FF2B5EF4-FFF2-40B4-BE49-F238E27FC236}">
                <a16:creationId xmlns:a16="http://schemas.microsoft.com/office/drawing/2014/main" id="{EBBADDBD-ED60-4FD9-8F03-73CC2CBC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课前准备的对话示例</a:t>
            </a:r>
          </a:p>
        </p:txBody>
      </p:sp>
      <p:sp>
        <p:nvSpPr>
          <p:cNvPr id="8" name="请求">
            <a:extLst xmlns:a="http://schemas.openxmlformats.org/drawingml/2006/main">
              <a:ext uri="{FF2B5EF4-FFF2-40B4-BE49-F238E27FC236}">
                <a16:creationId xmlns:a16="http://schemas.microsoft.com/office/drawing/2014/main" id="{17323CE5-799E-4903-9EF6-B5DE01C8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请求</a:t>
            </a:r>
          </a:p>
        </p:txBody>
      </p:sp>
      <p:sp>
        <p:nvSpPr>
          <p:cNvPr id="9" name="请编两句话：小兔在想象中的月亮花园种胡萝卜。">
            <a:extLst xmlns:a="http://schemas.openxmlformats.org/drawingml/2006/main">
              <a:ext uri="{FF2B5EF4-FFF2-40B4-BE49-F238E27FC236}">
                <a16:creationId xmlns:a16="http://schemas.microsoft.com/office/drawing/2014/main" id="{69E34211-7522-4855-8240-05793654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885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请编两句话：小兔在想象中的月亮花园种胡萝卜。</a:t>
            </a:r>
          </a:p>
        </p:txBody>
      </p:sp>
      <p:sp>
        <p:nvSpPr>
          <p:cNvPr id="10" name="示例回答">
            <a:extLst xmlns:a="http://schemas.openxmlformats.org/drawingml/2006/main">
              <a:ext uri="{FF2B5EF4-FFF2-40B4-BE49-F238E27FC236}">
                <a16:creationId xmlns:a16="http://schemas.microsoft.com/office/drawing/2014/main" id="{4389E0DF-D7EC-446B-8DEF-F335216A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示例回答</a:t>
            </a:r>
          </a:p>
        </p:txBody>
      </p:sp>
      <p:sp>
        <p:nvSpPr>
          <p:cNvPr id="11" name="小兔带着种子，坐上想象中的飞船来到月亮花园。">
            <a:extLst xmlns:a="http://schemas.openxmlformats.org/drawingml/2006/main">
              <a:ext uri="{FF2B5EF4-FFF2-40B4-BE49-F238E27FC236}">
                <a16:creationId xmlns:a16="http://schemas.microsoft.com/office/drawing/2014/main" id="{FA779E81-9FE9-4D79-A618-0EE02C1B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8905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小兔带着种子，坐上想象中的飞船来到月亮花园。它种下胡萝卜种</a:t>
            </a:r>
          </a:p>
          <a:p xmlns:a="http://schemas.openxmlformats.org/drawingml/2006/main">
            <a:pPr algn="l">
              <a:defRPr sz="2175" b="0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子，等着和朋友分享。</a:t>
            </a:r>
          </a:p>
        </p:txBody>
      </p:sp>
      <p:sp>
        <p:nvSpPr>
          <p:cNvPr id="12" name="想象故事，真实月亮不能直接这样种菜">
            <a:extLst xmlns:a="http://schemas.openxmlformats.org/drawingml/2006/main">
              <a:ext uri="{FF2B5EF4-FFF2-40B4-BE49-F238E27FC236}">
                <a16:creationId xmlns:a16="http://schemas.microsoft.com/office/drawing/2014/main" id="{C818C77E-2E0B-48E5-9BD9-029FAF6C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890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想象故事，真实月亮不能直接这样种菜</a:t>
            </a:r>
          </a:p>
        </p:txBody>
      </p:sp>
    </p:spTree>
    <p:extLst>
      <p:ext uri="{BB962C8B-B14F-4D97-AF65-F5344CB8AC3E}">
        <p14:creationId xmlns:p14="http://schemas.microsoft.com/office/powerpoint/2010/main" val="6529870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给故事加一个朋友">
            <a:extLst xmlns:a="http://schemas.openxmlformats.org/drawingml/2006/main">
              <a:ext uri="{FF2B5EF4-FFF2-40B4-BE49-F238E27FC236}">
                <a16:creationId xmlns:a16="http://schemas.microsoft.com/office/drawing/2014/main" id="{0C1D528C-6201-47F3-93DB-26578631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给故事加一个朋友</a:t>
            </a:r>
          </a:p>
        </p:txBody>
      </p:sp>
      <p:sp>
        <p:nvSpPr>
          <p:cNvPr id="2" name="23分—26分">
            <a:extLst xmlns:a="http://schemas.openxmlformats.org/drawingml/2006/main">
              <a:ext uri="{FF2B5EF4-FFF2-40B4-BE49-F238E27FC236}">
                <a16:creationId xmlns:a16="http://schemas.microsoft.com/office/drawing/2014/main" id="{88B5648D-88F0-4CDD-900A-CF81A6F9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23分—26分</a:t>
            </a:r>
          </a:p>
        </p:txBody>
      </p:sp>
      <p:sp>
        <p:nvSpPr>
          <p:cNvPr id="3" name="教师示范修改">
            <a:extLst xmlns:a="http://schemas.openxmlformats.org/drawingml/2006/main">
              <a:ext uri="{FF2B5EF4-FFF2-40B4-BE49-F238E27FC236}">
                <a16:creationId xmlns:a16="http://schemas.microsoft.com/office/drawing/2014/main" id="{8A8618AE-3DB3-427D-B199-0B17A734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教师示范修改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7EBCC3BD-71F3-49F5-BE15-8582B043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7F687-B98A-4149-B9BC-D820A3CA89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aa66adfce4b65"/>
          <a:stretch xmlns:a="http://schemas.openxmlformats.org/drawingml/2006/main"/>
        </p:blipFill>
        <p:spPr>
          <a:xfrm xmlns:a="http://schemas.openxmlformats.org/drawingml/2006/main">
            <a:off x="10001250" y="4114800"/>
            <a:ext cx="1666875" cy="1666875"/>
          </a:xfrm>
          <a:prstGeom xmlns:a="http://schemas.openxmlformats.org/drawingml/2006/main" prst="rect">
            <a:avLst/>
          </a:prstGeom>
        </p:spPr>
      </p:pic>
      <p:sp>
        <p:nvSpPr>
          <p:cNvPr id="6" name="图灵老师">
            <a:extLst xmlns:a="http://schemas.openxmlformats.org/drawingml/2006/main">
              <a:ext uri="{FF2B5EF4-FFF2-40B4-BE49-F238E27FC236}">
                <a16:creationId xmlns:a16="http://schemas.microsoft.com/office/drawing/2014/main" id="{9391A704-F720-44E3-979D-F404C812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0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图灵老师</a:t>
            </a:r>
          </a:p>
        </p:txBody>
      </p:sp>
      <p:sp>
        <p:nvSpPr>
          <p:cNvPr id="7" name="课前准备的对话示例">
            <a:extLst xmlns:a="http://schemas.openxmlformats.org/drawingml/2006/main">
              <a:ext uri="{FF2B5EF4-FFF2-40B4-BE49-F238E27FC236}">
                <a16:creationId xmlns:a16="http://schemas.microsoft.com/office/drawing/2014/main" id="{97B0E4E6-B8AF-442F-B3C1-D3788BCE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课前准备的对话示例</a:t>
            </a:r>
          </a:p>
        </p:txBody>
      </p:sp>
      <p:sp>
        <p:nvSpPr>
          <p:cNvPr id="8" name="请求">
            <a:extLst xmlns:a="http://schemas.openxmlformats.org/drawingml/2006/main">
              <a:ext uri="{FF2B5EF4-FFF2-40B4-BE49-F238E27FC236}">
                <a16:creationId xmlns:a16="http://schemas.microsoft.com/office/drawing/2014/main" id="{D3EABA66-35B7-4D30-A5DE-69AEAE1B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请求</a:t>
            </a:r>
          </a:p>
        </p:txBody>
      </p:sp>
      <p:sp>
        <p:nvSpPr>
          <p:cNvPr id="9" name="请给小兔加上朋友小熊，还是两句话。">
            <a:extLst xmlns:a="http://schemas.openxmlformats.org/drawingml/2006/main">
              <a:ext uri="{FF2B5EF4-FFF2-40B4-BE49-F238E27FC236}">
                <a16:creationId xmlns:a16="http://schemas.microsoft.com/office/drawing/2014/main" id="{2225B36B-034D-4E5D-B7EF-1F12B88E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885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请给小兔加上朋友小熊，还是两句话。</a:t>
            </a:r>
          </a:p>
        </p:txBody>
      </p:sp>
      <p:sp>
        <p:nvSpPr>
          <p:cNvPr id="10" name="示例回答">
            <a:extLst xmlns:a="http://schemas.openxmlformats.org/drawingml/2006/main">
              <a:ext uri="{FF2B5EF4-FFF2-40B4-BE49-F238E27FC236}">
                <a16:creationId xmlns:a16="http://schemas.microsoft.com/office/drawing/2014/main" id="{4823A437-7103-4C58-8B17-245948E5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示例回答</a:t>
            </a:r>
          </a:p>
        </p:txBody>
      </p:sp>
      <p:sp>
        <p:nvSpPr>
          <p:cNvPr id="11" name="小兔和小熊坐上想象中的飞船来到月亮花园。它们">
            <a:extLst xmlns:a="http://schemas.openxmlformats.org/drawingml/2006/main">
              <a:ext uri="{FF2B5EF4-FFF2-40B4-BE49-F238E27FC236}">
                <a16:creationId xmlns:a16="http://schemas.microsoft.com/office/drawing/2014/main" id="{82F27337-F3D4-4893-BFF9-A085EA49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8905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小兔和小熊坐上想象中的飞船来到月亮花园。它们一起种下胡萝卜</a:t>
            </a:r>
          </a:p>
          <a:p xmlns:a="http://schemas.openxmlformats.org/drawingml/2006/main">
            <a:pPr algn="l">
              <a:defRPr sz="2175" b="0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种子，约好分享收获。</a:t>
            </a:r>
          </a:p>
        </p:txBody>
      </p:sp>
      <p:sp>
        <p:nvSpPr>
          <p:cNvPr id="12" name="想象故事，真实月亮不能直接这样种菜">
            <a:extLst xmlns:a="http://schemas.openxmlformats.org/drawingml/2006/main">
              <a:ext uri="{FF2B5EF4-FFF2-40B4-BE49-F238E27FC236}">
                <a16:creationId xmlns:a16="http://schemas.microsoft.com/office/drawing/2014/main" id="{FB3B3A02-F752-46ED-AA70-89E19155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890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想象故事，真实月亮不能直接这样种菜</a:t>
            </a:r>
          </a:p>
        </p:txBody>
      </p:sp>
    </p:spTree>
    <p:extLst>
      <p:ext uri="{BB962C8B-B14F-4D97-AF65-F5344CB8AC3E}">
        <p14:creationId xmlns:p14="http://schemas.microsoft.com/office/powerpoint/2010/main" val="4992783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我的AI愿望图卡">
            <a:extLst xmlns:a="http://schemas.openxmlformats.org/drawingml/2006/main">
              <a:ext uri="{FF2B5EF4-FFF2-40B4-BE49-F238E27FC236}">
                <a16:creationId xmlns:a16="http://schemas.microsoft.com/office/drawing/2014/main" id="{82EFA42C-B325-41BB-BA0A-42FB127C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我的AI愿望图卡</a:t>
            </a:r>
          </a:p>
        </p:txBody>
      </p:sp>
      <p:sp>
        <p:nvSpPr>
          <p:cNvPr id="2" name="26分—28分">
            <a:extLst xmlns:a="http://schemas.openxmlformats.org/drawingml/2006/main">
              <a:ext uri="{FF2B5EF4-FFF2-40B4-BE49-F238E27FC236}">
                <a16:creationId xmlns:a16="http://schemas.microsoft.com/office/drawing/2014/main" id="{5AEB49A3-7FDC-4541-97BD-D563AC8C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26分—28分</a:t>
            </a:r>
          </a:p>
        </p:txBody>
      </p:sp>
      <p:sp>
        <p:nvSpPr>
          <p:cNvPr id="3" name="教师示范 2分钟">
            <a:extLst xmlns:a="http://schemas.openxmlformats.org/drawingml/2006/main">
              <a:ext uri="{FF2B5EF4-FFF2-40B4-BE49-F238E27FC236}">
                <a16:creationId xmlns:a16="http://schemas.microsoft.com/office/drawing/2014/main" id="{183692F2-32CA-4A99-8E59-1712884E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教师示范 2分钟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29A37EC9-A87E-4D52-B3DB-C801A1A1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F9DB0-29A5-4F3A-9A2E-B3A0F73DA8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835a952de4b3c"/>
          <a:stretch xmlns:a="http://schemas.openxmlformats.org/drawingml/2006/main"/>
        </p:blipFill>
        <p:spPr>
          <a:xfrm xmlns:a="http://schemas.openxmlformats.org/drawingml/2006/main">
            <a:off x="10001250" y="4114800"/>
            <a:ext cx="1666875" cy="1666875"/>
          </a:xfrm>
          <a:prstGeom xmlns:a="http://schemas.openxmlformats.org/drawingml/2006/main" prst="rect">
            <a:avLst/>
          </a:prstGeom>
        </p:spPr>
      </p:pic>
      <p:sp>
        <p:nvSpPr>
          <p:cNvPr id="6" name="图灵老师">
            <a:extLst xmlns:a="http://schemas.openxmlformats.org/drawingml/2006/main">
              <a:ext uri="{FF2B5EF4-FFF2-40B4-BE49-F238E27FC236}">
                <a16:creationId xmlns:a16="http://schemas.microsoft.com/office/drawing/2014/main" id="{821B43EC-E65C-42BC-B5AF-36237D80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0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图灵老师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DADB1-740A-4F87-B6AC-5F90AC4697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4753f1b5e4966"/>
          <a:stretch xmlns:a="http://schemas.openxmlformats.org/drawingml/2006/main"/>
        </p:blipFill>
        <p:spPr>
          <a:xfrm xmlns:a="http://schemas.openxmlformats.org/drawingml/2006/main">
            <a:off x="1428750" y="2047875"/>
            <a:ext cx="2143125" cy="214312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2D7AA-109F-405A-84BB-C7AEBC1961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aeeb312de473b"/>
          <a:stretch xmlns:a="http://schemas.openxmlformats.org/drawingml/2006/main"/>
        </p:blipFill>
        <p:spPr>
          <a:xfrm xmlns:a="http://schemas.openxmlformats.org/drawingml/2006/main">
            <a:off x="5715000" y="2047875"/>
            <a:ext cx="2143125" cy="2143125"/>
          </a:xfrm>
          <a:prstGeom xmlns:a="http://schemas.openxmlformats.org/drawingml/2006/main" prst="rect">
            <a:avLst/>
          </a:prstGeom>
        </p:spPr>
      </p:pic>
      <p:sp>
        <p:nvSpPr>
          <p:cNvPr id="9" name="画一件想请AI帮忙的事">
            <a:extLst xmlns:a="http://schemas.openxmlformats.org/drawingml/2006/main">
              <a:ext uri="{FF2B5EF4-FFF2-40B4-BE49-F238E27FC236}">
                <a16:creationId xmlns:a16="http://schemas.microsoft.com/office/drawing/2014/main" id="{93D41F86-4378-41AD-A801-59E3C90E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881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画一件想请AI帮忙的事</a:t>
            </a:r>
          </a:p>
        </p:txBody>
      </p:sp>
      <p:sp>
        <p:nvSpPr>
          <p:cNvPr id="10" name="不会写字，也可以只画">
            <a:extLst xmlns:a="http://schemas.openxmlformats.org/drawingml/2006/main">
              <a:ext uri="{FF2B5EF4-FFF2-40B4-BE49-F238E27FC236}">
                <a16:creationId xmlns:a16="http://schemas.microsoft.com/office/drawing/2014/main" id="{C3BE163B-8E35-4787-A567-6CF40961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890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不会写字，也可以只画</a:t>
            </a:r>
          </a:p>
        </p:txBody>
      </p:sp>
    </p:spTree>
    <p:extLst>
      <p:ext uri="{BB962C8B-B14F-4D97-AF65-F5344CB8AC3E}">
        <p14:creationId xmlns:p14="http://schemas.microsoft.com/office/powerpoint/2010/main" val="16247046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现在，安静画一画">
            <a:extLst xmlns:a="http://schemas.openxmlformats.org/drawingml/2006/main">
              <a:ext uri="{FF2B5EF4-FFF2-40B4-BE49-F238E27FC236}">
                <a16:creationId xmlns:a16="http://schemas.microsoft.com/office/drawing/2014/main" id="{2324F81D-D349-4FDD-B3E7-F3DF5B5E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现在，安静画一画</a:t>
            </a:r>
          </a:p>
        </p:txBody>
      </p:sp>
      <p:sp>
        <p:nvSpPr>
          <p:cNvPr id="2" name="28分—35分">
            <a:extLst xmlns:a="http://schemas.openxmlformats.org/drawingml/2006/main">
              <a:ext uri="{FF2B5EF4-FFF2-40B4-BE49-F238E27FC236}">
                <a16:creationId xmlns:a16="http://schemas.microsoft.com/office/drawing/2014/main" id="{5CA2A3C7-C642-4F8A-938A-740666DB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28分—35分</a:t>
            </a:r>
          </a:p>
        </p:txBody>
      </p:sp>
      <p:sp>
        <p:nvSpPr>
          <p:cNvPr id="3" name="一次作品任务 7分钟">
            <a:extLst xmlns:a="http://schemas.openxmlformats.org/drawingml/2006/main">
              <a:ext uri="{FF2B5EF4-FFF2-40B4-BE49-F238E27FC236}">
                <a16:creationId xmlns:a16="http://schemas.microsoft.com/office/drawing/2014/main" id="{6A4143DA-0C0B-441C-BE26-C5D0728B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一次作品任务 7分钟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092F3C2D-D4B3-43EA-9834-F59DFD09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B07FE-BA87-47DC-8101-45DFB9AD47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da0e6e6a84b53"/>
          <a:stretch xmlns:a="http://schemas.openxmlformats.org/drawingml/2006/main"/>
        </p:blipFill>
        <p:spPr>
          <a:xfrm xmlns:a="http://schemas.openxmlformats.org/drawingml/2006/main">
            <a:off x="10001250" y="4114800"/>
            <a:ext cx="1666875" cy="1666875"/>
          </a:xfrm>
          <a:prstGeom xmlns:a="http://schemas.openxmlformats.org/drawingml/2006/main" prst="rect">
            <a:avLst/>
          </a:prstGeom>
        </p:spPr>
      </p:pic>
      <p:sp>
        <p:nvSpPr>
          <p:cNvPr id="6" name="图灵老师">
            <a:extLst xmlns:a="http://schemas.openxmlformats.org/drawingml/2006/main">
              <a:ext uri="{FF2B5EF4-FFF2-40B4-BE49-F238E27FC236}">
                <a16:creationId xmlns:a16="http://schemas.microsoft.com/office/drawing/2014/main" id="{66B5F80C-F6F7-4F4D-93AD-F6FD591B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0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图灵老师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8A6DB-E47D-4CA4-BCF7-D7EF797DFF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3e10a9a8d4684"/>
          <a:stretch xmlns:a="http://schemas.openxmlformats.org/drawingml/2006/main"/>
        </p:blipFill>
        <p:spPr>
          <a:xfrm xmlns:a="http://schemas.openxmlformats.org/drawingml/2006/main">
            <a:off x="1428750" y="2047875"/>
            <a:ext cx="2143125" cy="214312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AFD38-97C8-426E-B476-E8C4C94B7A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7abd29a894160"/>
          <a:stretch xmlns:a="http://schemas.openxmlformats.org/drawingml/2006/main"/>
        </p:blipFill>
        <p:spPr>
          <a:xfrm xmlns:a="http://schemas.openxmlformats.org/drawingml/2006/main">
            <a:off x="5715000" y="2047875"/>
            <a:ext cx="2143125" cy="2143125"/>
          </a:xfrm>
          <a:prstGeom xmlns:a="http://schemas.openxmlformats.org/drawingml/2006/main" prst="rect">
            <a:avLst/>
          </a:prstGeom>
        </p:spPr>
      </p:pic>
      <p:sp>
        <p:nvSpPr>
          <p:cNvPr id="9" name="画出自己的小想法">
            <a:extLst xmlns:a="http://schemas.openxmlformats.org/drawingml/2006/main">
              <a:ext uri="{FF2B5EF4-FFF2-40B4-BE49-F238E27FC236}">
                <a16:creationId xmlns:a16="http://schemas.microsoft.com/office/drawing/2014/main" id="{B111E68A-59F6-4675-B9EC-22E6D159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881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画出自己的小想法</a:t>
            </a:r>
          </a:p>
        </p:txBody>
      </p:sp>
      <p:sp>
        <p:nvSpPr>
          <p:cNvPr id="10" name="有需要，轻轻举手找老师">
            <a:extLst xmlns:a="http://schemas.openxmlformats.org/drawingml/2006/main">
              <a:ext uri="{FF2B5EF4-FFF2-40B4-BE49-F238E27FC236}">
                <a16:creationId xmlns:a16="http://schemas.microsoft.com/office/drawing/2014/main" id="{F1070252-F8C7-4EC3-A7A1-85D96438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890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有需要，轻轻举手找老师</a:t>
            </a:r>
          </a:p>
        </p:txBody>
      </p:sp>
    </p:spTree>
    <p:extLst>
      <p:ext uri="{BB962C8B-B14F-4D97-AF65-F5344CB8AC3E}">
        <p14:creationId xmlns:p14="http://schemas.microsoft.com/office/powerpoint/2010/main" val="14620506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收好我的小作品">
            <a:extLst xmlns:a="http://schemas.openxmlformats.org/drawingml/2006/main">
              <a:ext uri="{FF2B5EF4-FFF2-40B4-BE49-F238E27FC236}">
                <a16:creationId xmlns:a16="http://schemas.microsoft.com/office/drawing/2014/main" id="{BA6539D6-EB0A-48AB-9265-3099BB5F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收好我的小作品</a:t>
            </a:r>
          </a:p>
        </p:txBody>
      </p:sp>
      <p:sp>
        <p:nvSpPr>
          <p:cNvPr id="2" name="35分—36分">
            <a:extLst xmlns:a="http://schemas.openxmlformats.org/drawingml/2006/main">
              <a:ext uri="{FF2B5EF4-FFF2-40B4-BE49-F238E27FC236}">
                <a16:creationId xmlns:a16="http://schemas.microsoft.com/office/drawing/2014/main" id="{5AE28829-E17F-4940-8C79-CEC0934D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35分—36分</a:t>
            </a:r>
          </a:p>
        </p:txBody>
      </p:sp>
      <p:sp>
        <p:nvSpPr>
          <p:cNvPr id="3" name="完成与收作品">
            <a:extLst xmlns:a="http://schemas.openxmlformats.org/drawingml/2006/main">
              <a:ext uri="{FF2B5EF4-FFF2-40B4-BE49-F238E27FC236}">
                <a16:creationId xmlns:a16="http://schemas.microsoft.com/office/drawing/2014/main" id="{490B121D-A16A-42BA-9D78-1699CECC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完成与收作品</a:t>
            </a:r>
          </a:p>
        </p:txBody>
      </p:sp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C3B69B51-AD3E-419D-A82B-E1460521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18AEA-E89E-4F77-B354-08D9FC66EE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0742e749948af"/>
          <a:stretch xmlns:a="http://schemas.openxmlformats.org/drawingml/2006/main"/>
        </p:blipFill>
        <p:spPr>
          <a:xfrm xmlns:a="http://schemas.openxmlformats.org/drawingml/2006/main">
            <a:off x="10001250" y="4114800"/>
            <a:ext cx="1666875" cy="1666875"/>
          </a:xfrm>
          <a:prstGeom xmlns:a="http://schemas.openxmlformats.org/drawingml/2006/main" prst="rect">
            <a:avLst/>
          </a:prstGeom>
        </p:spPr>
      </p:pic>
      <p:sp>
        <p:nvSpPr>
          <p:cNvPr id="6" name="图灵老师">
            <a:extLst xmlns:a="http://schemas.openxmlformats.org/drawingml/2006/main">
              <a:ext uri="{FF2B5EF4-FFF2-40B4-BE49-F238E27FC236}">
                <a16:creationId xmlns:a16="http://schemas.microsoft.com/office/drawing/2014/main" id="{54D765E1-A363-4209-836E-D87A58D0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0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图灵老师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7154B-5EF2-47FA-86F7-3DF6F7C066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f09752b9e4b00"/>
          <a:stretch xmlns:a="http://schemas.openxmlformats.org/drawingml/2006/main"/>
        </p:blipFill>
        <p:spPr>
          <a:xfrm xmlns:a="http://schemas.openxmlformats.org/drawingml/2006/main">
            <a:off x="1428750" y="2047875"/>
            <a:ext cx="2143125" cy="214312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C9F56-86CD-437F-B302-A649A792F6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bddb9c4ff43ed"/>
          <a:stretch xmlns:a="http://schemas.openxmlformats.org/drawingml/2006/main"/>
        </p:blipFill>
        <p:spPr>
          <a:xfrm xmlns:a="http://schemas.openxmlformats.org/drawingml/2006/main">
            <a:off x="5715000" y="2047875"/>
            <a:ext cx="2143125" cy="2143125"/>
          </a:xfrm>
          <a:prstGeom xmlns:a="http://schemas.openxmlformats.org/drawingml/2006/main" prst="rect">
            <a:avLst/>
          </a:prstGeom>
        </p:spPr>
      </p:pic>
      <p:sp>
        <p:nvSpPr>
          <p:cNvPr id="9" name="一张画，一个自己的想法">
            <a:extLst xmlns:a="http://schemas.openxmlformats.org/drawingml/2006/main">
              <a:ext uri="{FF2B5EF4-FFF2-40B4-BE49-F238E27FC236}">
                <a16:creationId xmlns:a16="http://schemas.microsoft.com/office/drawing/2014/main" id="{505404C2-9DFA-485E-85EE-66ACB46A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881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一张画，一个自己的想法</a:t>
            </a:r>
          </a:p>
        </p:txBody>
      </p:sp>
      <p:sp>
        <p:nvSpPr>
          <p:cNvPr id="10" name="写代号 或 请老师帮忙记一句">
            <a:extLst xmlns:a="http://schemas.openxmlformats.org/drawingml/2006/main">
              <a:ext uri="{FF2B5EF4-FFF2-40B4-BE49-F238E27FC236}">
                <a16:creationId xmlns:a16="http://schemas.microsoft.com/office/drawing/2014/main" id="{339FA7AF-3D08-4EEC-B4B0-40EE6FBA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890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写代号 或 请老师帮忙记一句</a:t>
            </a:r>
          </a:p>
        </p:txBody>
      </p:sp>
    </p:spTree>
    <p:extLst>
      <p:ext uri="{BB962C8B-B14F-4D97-AF65-F5344CB8AC3E}">
        <p14:creationId xmlns:p14="http://schemas.microsoft.com/office/powerpoint/2010/main" val="16270347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看看不同的小想法">
            <a:extLst xmlns:a="http://schemas.openxmlformats.org/drawingml/2006/main">
              <a:ext uri="{FF2B5EF4-FFF2-40B4-BE49-F238E27FC236}">
                <a16:creationId xmlns:a16="http://schemas.microsoft.com/office/drawing/2014/main" id="{13F4485C-8C86-408A-824A-D664B8D4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看看不同的小想法</a:t>
            </a:r>
          </a:p>
        </p:txBody>
      </p:sp>
      <p:sp>
        <p:nvSpPr>
          <p:cNvPr id="2" name="36分—38分">
            <a:extLst xmlns:a="http://schemas.openxmlformats.org/drawingml/2006/main">
              <a:ext uri="{FF2B5EF4-FFF2-40B4-BE49-F238E27FC236}">
                <a16:creationId xmlns:a16="http://schemas.microsoft.com/office/drawing/2014/main" id="{3FF9787F-653A-4B79-A69F-E99A8EED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36分—38分</a:t>
            </a:r>
          </a:p>
        </p:txBody>
      </p:sp>
      <p:sp>
        <p:nvSpPr>
          <p:cNvPr id="3" name="教师展示两份作品">
            <a:extLst xmlns:a="http://schemas.openxmlformats.org/drawingml/2006/main">
              <a:ext uri="{FF2B5EF4-FFF2-40B4-BE49-F238E27FC236}">
                <a16:creationId xmlns:a16="http://schemas.microsoft.com/office/drawing/2014/main" id="{9EA14259-EAB5-4E14-853B-0B27607F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教师展示两份作品</a:t>
            </a:r>
          </a:p>
        </p:txBody>
      </p:sp>
      <p:sp>
        <p:nvSpPr>
          <p:cNvPr id="4" name="16">
            <a:extLst xmlns:a="http://schemas.openxmlformats.org/drawingml/2006/main">
              <a:ext uri="{FF2B5EF4-FFF2-40B4-BE49-F238E27FC236}">
                <a16:creationId xmlns:a16="http://schemas.microsoft.com/office/drawing/2014/main" id="{74812140-0E7C-42DD-99CE-224CCC4D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24C53-B55F-4ABE-946F-21809AFFA9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2c39f0e544d4b"/>
          <a:stretch xmlns:a="http://schemas.openxmlformats.org/drawingml/2006/main"/>
        </p:blipFill>
        <p:spPr>
          <a:xfrm xmlns:a="http://schemas.openxmlformats.org/drawingml/2006/main">
            <a:off x="10001250" y="4114800"/>
            <a:ext cx="1666875" cy="1666875"/>
          </a:xfrm>
          <a:prstGeom xmlns:a="http://schemas.openxmlformats.org/drawingml/2006/main" prst="rect">
            <a:avLst/>
          </a:prstGeom>
        </p:spPr>
      </p:pic>
      <p:sp>
        <p:nvSpPr>
          <p:cNvPr id="6" name="图灵老师">
            <a:extLst xmlns:a="http://schemas.openxmlformats.org/drawingml/2006/main">
              <a:ext uri="{FF2B5EF4-FFF2-40B4-BE49-F238E27FC236}">
                <a16:creationId xmlns:a16="http://schemas.microsoft.com/office/drawing/2014/main" id="{FF9226BA-C5E2-472C-9F4C-2A00BAC2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0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图灵老师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3683A-1016-44EB-9E49-F1EEE986C2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7c31e3ad748a1"/>
          <a:stretch xmlns:a="http://schemas.openxmlformats.org/drawingml/2006/main"/>
        </p:blipFill>
        <p:spPr>
          <a:xfrm xmlns:a="http://schemas.openxmlformats.org/drawingml/2006/main">
            <a:off x="1428750" y="2047875"/>
            <a:ext cx="2143125" cy="214312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A9E6F-4EE2-4909-BA7A-9DAD1CF1CC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f9e7217404d28"/>
          <a:stretch xmlns:a="http://schemas.openxmlformats.org/drawingml/2006/main"/>
        </p:blipFill>
        <p:spPr>
          <a:xfrm xmlns:a="http://schemas.openxmlformats.org/drawingml/2006/main">
            <a:off x="5715000" y="2047875"/>
            <a:ext cx="2143125" cy="2143125"/>
          </a:xfrm>
          <a:prstGeom xmlns:a="http://schemas.openxmlformats.org/drawingml/2006/main" prst="rect">
            <a:avLst/>
          </a:prstGeom>
        </p:spPr>
      </p:pic>
      <p:sp>
        <p:nvSpPr>
          <p:cNvPr id="9" name="每个人都可以有自己的创意">
            <a:extLst xmlns:a="http://schemas.openxmlformats.org/drawingml/2006/main">
              <a:ext uri="{FF2B5EF4-FFF2-40B4-BE49-F238E27FC236}">
                <a16:creationId xmlns:a16="http://schemas.microsoft.com/office/drawing/2014/main" id="{D9CBEBB1-CB1C-4E38-BE06-0B95BCB7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881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每个人都可以有自己的创意</a:t>
            </a:r>
          </a:p>
        </p:txBody>
      </p:sp>
      <p:sp>
        <p:nvSpPr>
          <p:cNvPr id="10" name="看见一个具体的想法，就值得鼓励">
            <a:extLst xmlns:a="http://schemas.openxmlformats.org/drawingml/2006/main">
              <a:ext uri="{FF2B5EF4-FFF2-40B4-BE49-F238E27FC236}">
                <a16:creationId xmlns:a16="http://schemas.microsoft.com/office/drawing/2014/main" id="{79604CF4-4328-498C-9E7A-F4691A4C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890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看见一个具体的想法，就值得鼓励</a:t>
            </a:r>
          </a:p>
        </p:txBody>
      </p:sp>
    </p:spTree>
    <p:extLst>
      <p:ext uri="{BB962C8B-B14F-4D97-AF65-F5344CB8AC3E}">
        <p14:creationId xmlns:p14="http://schemas.microsoft.com/office/powerpoint/2010/main" val="12519007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今天的小发现">
            <a:extLst xmlns:a="http://schemas.openxmlformats.org/drawingml/2006/main">
              <a:ext uri="{FF2B5EF4-FFF2-40B4-BE49-F238E27FC236}">
                <a16:creationId xmlns:a16="http://schemas.microsoft.com/office/drawing/2014/main" id="{B646F1E8-F4A1-47A0-8FA7-13C3E97E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73F49"/>
                </a:solidFill>
                <a:latin typeface="Noto Sans CJK SC"/>
                <a:ea typeface="Noto Sans CJK SC"/>
                <a:cs typeface="Noto Sans CJK SC"/>
              </a:rPr>
              <a:t>今天的小发现</a:t>
            </a:r>
          </a:p>
        </p:txBody>
      </p:sp>
      <p:sp>
        <p:nvSpPr>
          <p:cNvPr id="2" name="38分—40分">
            <a:extLst xmlns:a="http://schemas.openxmlformats.org/drawingml/2006/main">
              <a:ext uri="{FF2B5EF4-FFF2-40B4-BE49-F238E27FC236}">
                <a16:creationId xmlns:a16="http://schemas.microsoft.com/office/drawing/2014/main" id="{AC7A26D3-8ECC-4AFE-8529-6ADFF6E0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38分—40分</a:t>
            </a:r>
          </a:p>
        </p:txBody>
      </p:sp>
      <p:sp>
        <p:nvSpPr>
          <p:cNvPr id="3" name="图灵总结 不做离堂测验">
            <a:extLst xmlns:a="http://schemas.openxmlformats.org/drawingml/2006/main">
              <a:ext uri="{FF2B5EF4-FFF2-40B4-BE49-F238E27FC236}">
                <a16:creationId xmlns:a16="http://schemas.microsoft.com/office/drawing/2014/main" id="{3CABCC43-FDD2-4FF0-85DA-0E670466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图灵总结 不做离堂测验</a:t>
            </a:r>
          </a:p>
        </p:txBody>
      </p:sp>
      <p:sp>
        <p:nvSpPr>
          <p:cNvPr id="4" name="17">
            <a:extLst xmlns:a="http://schemas.openxmlformats.org/drawingml/2006/main">
              <a:ext uri="{FF2B5EF4-FFF2-40B4-BE49-F238E27FC236}">
                <a16:creationId xmlns:a16="http://schemas.microsoft.com/office/drawing/2014/main" id="{A1005ECF-37D6-4FE9-9028-52D2CAEB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BB498-A650-4936-BABC-6434CD0AB6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7df1ea86a4d25"/>
          <a:stretch xmlns:a="http://schemas.openxmlformats.org/drawingml/2006/main"/>
        </p:blipFill>
        <p:spPr>
          <a:xfrm xmlns:a="http://schemas.openxmlformats.org/drawingml/2006/main">
            <a:off x="10001250" y="4114800"/>
            <a:ext cx="1666875" cy="1666875"/>
          </a:xfrm>
          <a:prstGeom xmlns:a="http://schemas.openxmlformats.org/drawingml/2006/main" prst="rect">
            <a:avLst/>
          </a:prstGeom>
        </p:spPr>
      </p:pic>
      <p:sp>
        <p:nvSpPr>
          <p:cNvPr id="6" name="图灵老师">
            <a:extLst xmlns:a="http://schemas.openxmlformats.org/drawingml/2006/main">
              <a:ext uri="{FF2B5EF4-FFF2-40B4-BE49-F238E27FC236}">
                <a16:creationId xmlns:a16="http://schemas.microsoft.com/office/drawing/2014/main" id="{E181C26C-4905-423F-A80D-EF73F86F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0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图灵老师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CC9E8-4F52-4224-B41C-C10C6D510D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461a64acf4d41"/>
          <a:stretch xmlns:a="http://schemas.openxmlformats.org/drawingml/2006/main"/>
        </p:blipFill>
        <p:spPr>
          <a:xfrm xmlns:a="http://schemas.openxmlformats.org/drawingml/2006/main">
            <a:off x="857250" y="2047875"/>
            <a:ext cx="1762125" cy="176212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C23FE-D9A7-45F6-AB30-B5BFC0CC3C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2ed7886c84633"/>
          <a:stretch xmlns:a="http://schemas.openxmlformats.org/drawingml/2006/main"/>
        </p:blipFill>
        <p:spPr>
          <a:xfrm xmlns:a="http://schemas.openxmlformats.org/drawingml/2006/main">
            <a:off x="3810000" y="2047875"/>
            <a:ext cx="1762125" cy="1762125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BB1CA-4012-433D-99BE-65FE8FB95F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a7e54880a43fb"/>
          <a:stretch xmlns:a="http://schemas.openxmlformats.org/drawingml/2006/main"/>
        </p:blipFill>
        <p:spPr>
          <a:xfrm xmlns:a="http://schemas.openxmlformats.org/drawingml/2006/main">
            <a:off x="6762750" y="2047875"/>
            <a:ext cx="1762125" cy="1762125"/>
          </a:xfrm>
          <a:prstGeom xmlns:a="http://schemas.openxmlformats.org/drawingml/2006/main" prst="rect">
            <a:avLst/>
          </a:prstGeom>
        </p:spPr>
      </p:pic>
      <p:sp>
        <p:nvSpPr>
          <p:cNvPr id="10" name="AI能帮忙  结果要检查">
            <a:extLst xmlns:a="http://schemas.openxmlformats.org/drawingml/2006/main">
              <a:ext uri="{FF2B5EF4-FFF2-40B4-BE49-F238E27FC236}">
                <a16:creationId xmlns:a16="http://schemas.microsoft.com/office/drawing/2014/main" id="{FE5EADE6-1BF7-4FF6-A99F-89E50657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881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087F86"/>
                </a:solidFill>
                <a:latin typeface="Noto Sans CJK SC"/>
                <a:ea typeface="Noto Sans CJK SC"/>
                <a:cs typeface="Noto Sans CJK SC"/>
              </a:rPr>
              <a:t>AI能帮忙  结果要检查</a:t>
            </a:r>
          </a:p>
        </p:txBody>
      </p:sp>
      <p:sp>
        <p:nvSpPr>
          <p:cNvPr id="11" name="不确定，找现场老师">
            <a:extLst xmlns:a="http://schemas.openxmlformats.org/drawingml/2006/main">
              <a:ext uri="{FF2B5EF4-FFF2-40B4-BE49-F238E27FC236}">
                <a16:creationId xmlns:a16="http://schemas.microsoft.com/office/drawing/2014/main" id="{B79A1D2B-D95F-4AA2-9D21-E1C694CD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890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9747A"/>
                </a:solidFill>
                <a:latin typeface="Noto Sans CJK SC"/>
                <a:ea typeface="Noto Sans CJK SC"/>
                <a:cs typeface="Noto Sans CJK SC"/>
              </a:rPr>
              <a:t>不确定，找现场老师</a:t>
            </a:r>
          </a:p>
        </p:txBody>
      </p:sp>
    </p:spTree>
    <p:extLst>
      <p:ext uri="{BB962C8B-B14F-4D97-AF65-F5344CB8AC3E}">
        <p14:creationId xmlns:p14="http://schemas.microsoft.com/office/powerpoint/2010/main" val="657253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2026-10-16T21:28:27.3320000Z</dcterms:created>
  <dcterms:modified xsi:type="dcterms:W3CDTF">2026-10-16T21:28:27.3320000Z</dcterms:modified>
</coreProperties>
</file>